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Lst>
  <p:sldSz cy="10287000" cx="18288000"/>
  <p:notesSz cx="18288000" cy="10287000"/>
  <p:embeddedFontLst>
    <p:embeddedFont>
      <p:font typeface="Roboto"/>
      <p:regular r:id="rId12"/>
      <p:bold r:id="rId13"/>
      <p:italic r:id="rId14"/>
      <p:boldItalic r:id="rId15"/>
    </p:embeddedFont>
    <p:embeddedFont>
      <p:font typeface="Arial Black"/>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6"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5564097" y="460502"/>
            <a:ext cx="6885305" cy="5283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300">
                <a:solidFill>
                  <a:schemeClr val="dk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673099" y="1659890"/>
            <a:ext cx="11764010" cy="637476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3000">
                <a:solidFill>
                  <a:schemeClr val="dk1"/>
                </a:solidFill>
                <a:latin typeface="Georgia"/>
                <a:ea typeface="Georgia"/>
                <a:cs typeface="Georgia"/>
                <a:sym typeface="Georgi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2"/>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 name="Shape 19"/>
        <p:cNvGrpSpPr/>
        <p:nvPr/>
      </p:nvGrpSpPr>
      <p:grpSpPr>
        <a:xfrm>
          <a:off x="0" y="0"/>
          <a:ext cx="0" cy="0"/>
          <a:chOff x="0" y="0"/>
          <a:chExt cx="0" cy="0"/>
        </a:xfrm>
      </p:grpSpPr>
      <p:sp>
        <p:nvSpPr>
          <p:cNvPr id="20" name="Google Shape;20;p3"/>
          <p:cNvSpPr txBox="1"/>
          <p:nvPr>
            <p:ph type="title"/>
          </p:nvPr>
        </p:nvSpPr>
        <p:spPr>
          <a:xfrm>
            <a:off x="5564097" y="460502"/>
            <a:ext cx="6885305" cy="5283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300">
                <a:solidFill>
                  <a:schemeClr val="dk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559346" y="2257863"/>
            <a:ext cx="8225155" cy="621728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150">
                <a:solidFill>
                  <a:srgbClr val="404040"/>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3"/>
          <p:cNvSpPr txBox="1"/>
          <p:nvPr>
            <p:ph idx="2" type="body"/>
          </p:nvPr>
        </p:nvSpPr>
        <p:spPr>
          <a:xfrm>
            <a:off x="9879577" y="2165020"/>
            <a:ext cx="7591425" cy="665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100">
                <a:solidFill>
                  <a:srgbClr val="404040"/>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3"/>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
        <p:nvSpPr>
          <p:cNvPr id="27" name="Google Shape;27;p4"/>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300">
                <a:solidFill>
                  <a:schemeClr val="dk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000">
                <a:solidFill>
                  <a:schemeClr val="dk1"/>
                </a:solidFill>
                <a:latin typeface="Georgia"/>
                <a:ea typeface="Georgia"/>
                <a:cs typeface="Georgia"/>
                <a:sym typeface="Georg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5"/>
          <p:cNvSpPr txBox="1"/>
          <p:nvPr>
            <p:ph type="title"/>
          </p:nvPr>
        </p:nvSpPr>
        <p:spPr>
          <a:xfrm>
            <a:off x="5564097" y="460502"/>
            <a:ext cx="6885305" cy="5283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300">
                <a:solidFill>
                  <a:schemeClr val="dk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6"/>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15681503" y="246888"/>
            <a:ext cx="2194559" cy="1110995"/>
          </a:xfrm>
          <a:prstGeom prst="rect">
            <a:avLst/>
          </a:prstGeom>
          <a:noFill/>
          <a:ln>
            <a:noFill/>
          </a:ln>
        </p:spPr>
      </p:pic>
      <p:sp>
        <p:nvSpPr>
          <p:cNvPr id="7" name="Google Shape;7;p1"/>
          <p:cNvSpPr/>
          <p:nvPr/>
        </p:nvSpPr>
        <p:spPr>
          <a:xfrm>
            <a:off x="333517" y="264794"/>
            <a:ext cx="2076450" cy="951865"/>
          </a:xfrm>
          <a:custGeom>
            <a:rect b="b" l="l" r="r" t="t"/>
            <a:pathLst>
              <a:path extrusionOk="0" h="951865" w="2076450">
                <a:moveTo>
                  <a:pt x="0" y="475803"/>
                </a:moveTo>
                <a:lnTo>
                  <a:pt x="7505" y="418297"/>
                </a:lnTo>
                <a:lnTo>
                  <a:pt x="29443" y="362826"/>
                </a:lnTo>
                <a:lnTo>
                  <a:pt x="64943" y="309788"/>
                </a:lnTo>
                <a:lnTo>
                  <a:pt x="113139" y="259582"/>
                </a:lnTo>
                <a:lnTo>
                  <a:pt x="173161" y="212605"/>
                </a:lnTo>
                <a:lnTo>
                  <a:pt x="207335" y="190453"/>
                </a:lnTo>
                <a:lnTo>
                  <a:pt x="244140" y="169257"/>
                </a:lnTo>
                <a:lnTo>
                  <a:pt x="283468" y="149068"/>
                </a:lnTo>
                <a:lnTo>
                  <a:pt x="325209" y="129936"/>
                </a:lnTo>
                <a:lnTo>
                  <a:pt x="369255" y="111909"/>
                </a:lnTo>
                <a:lnTo>
                  <a:pt x="415497" y="95039"/>
                </a:lnTo>
                <a:lnTo>
                  <a:pt x="463828" y="79374"/>
                </a:lnTo>
                <a:lnTo>
                  <a:pt x="514138" y="64965"/>
                </a:lnTo>
                <a:lnTo>
                  <a:pt x="566318" y="51861"/>
                </a:lnTo>
                <a:lnTo>
                  <a:pt x="620261" y="40113"/>
                </a:lnTo>
                <a:lnTo>
                  <a:pt x="675857" y="29769"/>
                </a:lnTo>
                <a:lnTo>
                  <a:pt x="732999" y="20880"/>
                </a:lnTo>
                <a:lnTo>
                  <a:pt x="791577" y="13496"/>
                </a:lnTo>
                <a:lnTo>
                  <a:pt x="851483" y="7666"/>
                </a:lnTo>
                <a:lnTo>
                  <a:pt x="912608" y="3440"/>
                </a:lnTo>
                <a:lnTo>
                  <a:pt x="974844" y="868"/>
                </a:lnTo>
                <a:lnTo>
                  <a:pt x="1038082" y="0"/>
                </a:lnTo>
                <a:lnTo>
                  <a:pt x="1101320" y="868"/>
                </a:lnTo>
                <a:lnTo>
                  <a:pt x="1163555" y="3440"/>
                </a:lnTo>
                <a:lnTo>
                  <a:pt x="1224681" y="7666"/>
                </a:lnTo>
                <a:lnTo>
                  <a:pt x="1284586" y="13496"/>
                </a:lnTo>
                <a:lnTo>
                  <a:pt x="1343164" y="20880"/>
                </a:lnTo>
                <a:lnTo>
                  <a:pt x="1400306" y="29769"/>
                </a:lnTo>
                <a:lnTo>
                  <a:pt x="1455902" y="40113"/>
                </a:lnTo>
                <a:lnTo>
                  <a:pt x="1509845" y="51861"/>
                </a:lnTo>
                <a:lnTo>
                  <a:pt x="1562026" y="64965"/>
                </a:lnTo>
                <a:lnTo>
                  <a:pt x="1612335" y="79374"/>
                </a:lnTo>
                <a:lnTo>
                  <a:pt x="1660666" y="95039"/>
                </a:lnTo>
                <a:lnTo>
                  <a:pt x="1706908" y="111909"/>
                </a:lnTo>
                <a:lnTo>
                  <a:pt x="1750955" y="129936"/>
                </a:lnTo>
                <a:lnTo>
                  <a:pt x="1792695" y="149068"/>
                </a:lnTo>
                <a:lnTo>
                  <a:pt x="1832023" y="169257"/>
                </a:lnTo>
                <a:lnTo>
                  <a:pt x="1868828" y="190453"/>
                </a:lnTo>
                <a:lnTo>
                  <a:pt x="1903002" y="212605"/>
                </a:lnTo>
                <a:lnTo>
                  <a:pt x="1934437" y="235665"/>
                </a:lnTo>
                <a:lnTo>
                  <a:pt x="1988654" y="284306"/>
                </a:lnTo>
                <a:lnTo>
                  <a:pt x="2030611" y="335978"/>
                </a:lnTo>
                <a:lnTo>
                  <a:pt x="2059439" y="390282"/>
                </a:lnTo>
                <a:lnTo>
                  <a:pt x="2074269" y="446820"/>
                </a:lnTo>
                <a:lnTo>
                  <a:pt x="2076164" y="475803"/>
                </a:lnTo>
                <a:lnTo>
                  <a:pt x="2074269" y="504785"/>
                </a:lnTo>
                <a:lnTo>
                  <a:pt x="2059439" y="561324"/>
                </a:lnTo>
                <a:lnTo>
                  <a:pt x="2030611" y="615628"/>
                </a:lnTo>
                <a:lnTo>
                  <a:pt x="1988654" y="667300"/>
                </a:lnTo>
                <a:lnTo>
                  <a:pt x="1934437" y="715941"/>
                </a:lnTo>
                <a:lnTo>
                  <a:pt x="1903002" y="739001"/>
                </a:lnTo>
                <a:lnTo>
                  <a:pt x="1868828" y="761153"/>
                </a:lnTo>
                <a:lnTo>
                  <a:pt x="1832023" y="782349"/>
                </a:lnTo>
                <a:lnTo>
                  <a:pt x="1792696" y="802538"/>
                </a:lnTo>
                <a:lnTo>
                  <a:pt x="1750955" y="821670"/>
                </a:lnTo>
                <a:lnTo>
                  <a:pt x="1706908" y="839697"/>
                </a:lnTo>
                <a:lnTo>
                  <a:pt x="1660666" y="856567"/>
                </a:lnTo>
                <a:lnTo>
                  <a:pt x="1612335" y="872232"/>
                </a:lnTo>
                <a:lnTo>
                  <a:pt x="1562026" y="886641"/>
                </a:lnTo>
                <a:lnTo>
                  <a:pt x="1509845" y="899745"/>
                </a:lnTo>
                <a:lnTo>
                  <a:pt x="1455902" y="911493"/>
                </a:lnTo>
                <a:lnTo>
                  <a:pt x="1400306" y="921837"/>
                </a:lnTo>
                <a:lnTo>
                  <a:pt x="1343164" y="930726"/>
                </a:lnTo>
                <a:lnTo>
                  <a:pt x="1284586" y="938110"/>
                </a:lnTo>
                <a:lnTo>
                  <a:pt x="1224681" y="943940"/>
                </a:lnTo>
                <a:lnTo>
                  <a:pt x="1163555" y="948166"/>
                </a:lnTo>
                <a:lnTo>
                  <a:pt x="1101320" y="950738"/>
                </a:lnTo>
                <a:lnTo>
                  <a:pt x="1038082" y="951606"/>
                </a:lnTo>
                <a:lnTo>
                  <a:pt x="974844" y="950738"/>
                </a:lnTo>
                <a:lnTo>
                  <a:pt x="912608" y="948166"/>
                </a:lnTo>
                <a:lnTo>
                  <a:pt x="851483" y="943940"/>
                </a:lnTo>
                <a:lnTo>
                  <a:pt x="791577" y="938110"/>
                </a:lnTo>
                <a:lnTo>
                  <a:pt x="732999" y="930726"/>
                </a:lnTo>
                <a:lnTo>
                  <a:pt x="675857" y="921837"/>
                </a:lnTo>
                <a:lnTo>
                  <a:pt x="620261" y="911493"/>
                </a:lnTo>
                <a:lnTo>
                  <a:pt x="566318" y="899744"/>
                </a:lnTo>
                <a:lnTo>
                  <a:pt x="514138" y="886641"/>
                </a:lnTo>
                <a:lnTo>
                  <a:pt x="463828" y="872232"/>
                </a:lnTo>
                <a:lnTo>
                  <a:pt x="415497" y="856567"/>
                </a:lnTo>
                <a:lnTo>
                  <a:pt x="369255" y="839697"/>
                </a:lnTo>
                <a:lnTo>
                  <a:pt x="325209" y="821670"/>
                </a:lnTo>
                <a:lnTo>
                  <a:pt x="283468" y="802538"/>
                </a:lnTo>
                <a:lnTo>
                  <a:pt x="244140" y="782349"/>
                </a:lnTo>
                <a:lnTo>
                  <a:pt x="207335" y="761153"/>
                </a:lnTo>
                <a:lnTo>
                  <a:pt x="173161" y="739001"/>
                </a:lnTo>
                <a:lnTo>
                  <a:pt x="141726" y="715941"/>
                </a:lnTo>
                <a:lnTo>
                  <a:pt x="87509" y="667300"/>
                </a:lnTo>
                <a:lnTo>
                  <a:pt x="45552" y="615628"/>
                </a:lnTo>
                <a:lnTo>
                  <a:pt x="16724" y="561324"/>
                </a:lnTo>
                <a:lnTo>
                  <a:pt x="1894" y="504785"/>
                </a:lnTo>
                <a:lnTo>
                  <a:pt x="0" y="475803"/>
                </a:lnTo>
              </a:path>
            </a:pathLst>
          </a:custGeom>
          <a:noFill/>
          <a:ln cap="flat" cmpd="sng" w="38075">
            <a:solidFill>
              <a:srgbClr val="80808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5564097" y="460502"/>
            <a:ext cx="6885305" cy="52831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300" u="none" cap="none" strike="noStrik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673099" y="1659890"/>
            <a:ext cx="11764010" cy="637476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3000" u="none" cap="none" strike="noStrike">
                <a:solidFill>
                  <a:schemeClr val="dk1"/>
                </a:solidFill>
                <a:latin typeface="Georgia"/>
                <a:ea typeface="Georgia"/>
                <a:cs typeface="Georgia"/>
                <a:sym typeface="Georgi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261619" y="9973500"/>
            <a:ext cx="2287905" cy="19685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350">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lvl1pPr indent="0" lvl="0" marL="38100">
              <a:lnSpc>
                <a:spcPct val="100848"/>
              </a:lnSpc>
              <a:spcBef>
                <a:spcPts val="0"/>
              </a:spcBef>
              <a:buNone/>
              <a:defRPr b="1" i="0" sz="1650">
                <a:solidFill>
                  <a:schemeClr val="lt1"/>
                </a:solidFill>
                <a:latin typeface="Calibri"/>
                <a:ea typeface="Calibri"/>
                <a:cs typeface="Calibri"/>
                <a:sym typeface="Calibri"/>
              </a:defRPr>
            </a:lvl1pPr>
            <a:lvl2pPr indent="0" lvl="1" marL="38100">
              <a:lnSpc>
                <a:spcPct val="100848"/>
              </a:lnSpc>
              <a:spcBef>
                <a:spcPts val="0"/>
              </a:spcBef>
              <a:buNone/>
              <a:defRPr b="1" i="0" sz="1650">
                <a:solidFill>
                  <a:schemeClr val="lt1"/>
                </a:solidFill>
                <a:latin typeface="Calibri"/>
                <a:ea typeface="Calibri"/>
                <a:cs typeface="Calibri"/>
                <a:sym typeface="Calibri"/>
              </a:defRPr>
            </a:lvl2pPr>
            <a:lvl3pPr indent="0" lvl="2" marL="38100">
              <a:lnSpc>
                <a:spcPct val="100848"/>
              </a:lnSpc>
              <a:spcBef>
                <a:spcPts val="0"/>
              </a:spcBef>
              <a:buNone/>
              <a:defRPr b="1" i="0" sz="1650">
                <a:solidFill>
                  <a:schemeClr val="lt1"/>
                </a:solidFill>
                <a:latin typeface="Calibri"/>
                <a:ea typeface="Calibri"/>
                <a:cs typeface="Calibri"/>
                <a:sym typeface="Calibri"/>
              </a:defRPr>
            </a:lvl3pPr>
            <a:lvl4pPr indent="0" lvl="3" marL="38100">
              <a:lnSpc>
                <a:spcPct val="100848"/>
              </a:lnSpc>
              <a:spcBef>
                <a:spcPts val="0"/>
              </a:spcBef>
              <a:buNone/>
              <a:defRPr b="1" i="0" sz="1650">
                <a:solidFill>
                  <a:schemeClr val="lt1"/>
                </a:solidFill>
                <a:latin typeface="Calibri"/>
                <a:ea typeface="Calibri"/>
                <a:cs typeface="Calibri"/>
                <a:sym typeface="Calibri"/>
              </a:defRPr>
            </a:lvl4pPr>
            <a:lvl5pPr indent="0" lvl="4" marL="38100">
              <a:lnSpc>
                <a:spcPct val="100848"/>
              </a:lnSpc>
              <a:spcBef>
                <a:spcPts val="0"/>
              </a:spcBef>
              <a:buNone/>
              <a:defRPr b="1" i="0" sz="1650">
                <a:solidFill>
                  <a:schemeClr val="lt1"/>
                </a:solidFill>
                <a:latin typeface="Calibri"/>
                <a:ea typeface="Calibri"/>
                <a:cs typeface="Calibri"/>
                <a:sym typeface="Calibri"/>
              </a:defRPr>
            </a:lvl5pPr>
            <a:lvl6pPr indent="0" lvl="5" marL="38100">
              <a:lnSpc>
                <a:spcPct val="100848"/>
              </a:lnSpc>
              <a:spcBef>
                <a:spcPts val="0"/>
              </a:spcBef>
              <a:buNone/>
              <a:defRPr b="1" i="0" sz="1650">
                <a:solidFill>
                  <a:schemeClr val="lt1"/>
                </a:solidFill>
                <a:latin typeface="Calibri"/>
                <a:ea typeface="Calibri"/>
                <a:cs typeface="Calibri"/>
                <a:sym typeface="Calibri"/>
              </a:defRPr>
            </a:lvl6pPr>
            <a:lvl7pPr indent="0" lvl="6" marL="38100">
              <a:lnSpc>
                <a:spcPct val="100848"/>
              </a:lnSpc>
              <a:spcBef>
                <a:spcPts val="0"/>
              </a:spcBef>
              <a:buNone/>
              <a:defRPr b="1" i="0" sz="1650">
                <a:solidFill>
                  <a:schemeClr val="lt1"/>
                </a:solidFill>
                <a:latin typeface="Calibri"/>
                <a:ea typeface="Calibri"/>
                <a:cs typeface="Calibri"/>
                <a:sym typeface="Calibri"/>
              </a:defRPr>
            </a:lvl7pPr>
            <a:lvl8pPr indent="0" lvl="7" marL="38100">
              <a:lnSpc>
                <a:spcPct val="100848"/>
              </a:lnSpc>
              <a:spcBef>
                <a:spcPts val="0"/>
              </a:spcBef>
              <a:buNone/>
              <a:defRPr b="1" i="0" sz="1650">
                <a:solidFill>
                  <a:schemeClr val="lt1"/>
                </a:solidFill>
                <a:latin typeface="Calibri"/>
                <a:ea typeface="Calibri"/>
                <a:cs typeface="Calibri"/>
                <a:sym typeface="Calibri"/>
              </a:defRPr>
            </a:lvl8pPr>
            <a:lvl9pPr indent="0" lvl="8" marL="38100">
              <a:lnSpc>
                <a:spcPct val="100848"/>
              </a:lnSpc>
              <a:spcBef>
                <a:spcPts val="0"/>
              </a:spcBef>
              <a:buNone/>
              <a:defRPr b="1" i="0" sz="16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3.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mospi.gov.in/" TargetMode="External"/><Relationship Id="rId4" Type="http://schemas.openxmlformats.org/officeDocument/2006/relationships/hyperlink" Target="https://www.imf.org/en/Data/Statistics/cpi-manual" TargetMode="External"/><Relationship Id="rId10"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hyperlink" Target="https://www.dgca.gov.in/" TargetMode="External"/><Relationship Id="rId6" Type="http://schemas.openxmlformats.org/officeDocument/2006/relationships/hyperlink" Target="https://www.rbi.org.in/" TargetMode="External"/><Relationship Id="rId7" Type="http://schemas.openxmlformats.org/officeDocument/2006/relationships/hyperlink" Target="https://fastapi.tiangolo.com/" TargetMode="External"/><Relationship Id="rId8" Type="http://schemas.openxmlformats.org/officeDocument/2006/relationships/hyperlink" Target="https://playwright.de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sp>
        <p:nvSpPr>
          <p:cNvPr descr="$PPTXTitle" id="45" name="Google Shape;45;p7"/>
          <p:cNvSpPr txBox="1"/>
          <p:nvPr>
            <p:ph type="title"/>
          </p:nvPr>
        </p:nvSpPr>
        <p:spPr>
          <a:xfrm>
            <a:off x="673099" y="562609"/>
            <a:ext cx="10208260" cy="711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500">
                <a:solidFill>
                  <a:srgbClr val="1F3764"/>
                </a:solidFill>
              </a:rPr>
              <a:t>SMART INDIA HACKATHON 2026</a:t>
            </a:r>
            <a:endParaRPr sz="4500"/>
          </a:p>
        </p:txBody>
      </p:sp>
      <p:sp>
        <p:nvSpPr>
          <p:cNvPr id="46" name="Google Shape;46;p7"/>
          <p:cNvSpPr txBox="1"/>
          <p:nvPr>
            <p:ph idx="1" type="body"/>
          </p:nvPr>
        </p:nvSpPr>
        <p:spPr>
          <a:xfrm>
            <a:off x="673099" y="1659890"/>
            <a:ext cx="11763900" cy="6902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TITLE PAGE</a:t>
            </a:r>
            <a:endParaRPr/>
          </a:p>
          <a:p>
            <a:pPr indent="0" lvl="0" marL="0" rtl="0" algn="l">
              <a:lnSpc>
                <a:spcPct val="100000"/>
              </a:lnSpc>
              <a:spcBef>
                <a:spcPts val="1585"/>
              </a:spcBef>
              <a:spcAft>
                <a:spcPts val="0"/>
              </a:spcAft>
              <a:buNone/>
            </a:pPr>
            <a:r>
              <a:t/>
            </a:r>
            <a:endParaRPr/>
          </a:p>
          <a:p>
            <a:pPr indent="-266065" lvl="0" marL="334010" rtl="0" algn="l">
              <a:lnSpc>
                <a:spcPct val="100000"/>
              </a:lnSpc>
              <a:spcBef>
                <a:spcPts val="0"/>
              </a:spcBef>
              <a:spcAft>
                <a:spcPts val="0"/>
              </a:spcAft>
              <a:buClr>
                <a:srgbClr val="1F3764"/>
              </a:buClr>
              <a:buSzPts val="2300"/>
              <a:buFont typeface="Calibri"/>
              <a:buChar char="•"/>
            </a:pPr>
            <a:r>
              <a:rPr lang="en-US" sz="2300">
                <a:latin typeface="Calibri"/>
                <a:ea typeface="Calibri"/>
                <a:cs typeface="Calibri"/>
                <a:sym typeface="Calibri"/>
              </a:rPr>
              <a:t>Problem Statement ID – </a:t>
            </a:r>
            <a:r>
              <a:rPr lang="en-US" sz="2300">
                <a:latin typeface="Calibri"/>
                <a:ea typeface="Calibri"/>
                <a:cs typeface="Calibri"/>
                <a:sym typeface="Calibri"/>
              </a:rPr>
              <a:t>SIH26056</a:t>
            </a:r>
            <a:endParaRPr sz="2300">
              <a:latin typeface="Calibri"/>
              <a:ea typeface="Calibri"/>
              <a:cs typeface="Calibri"/>
              <a:sym typeface="Calibri"/>
            </a:endParaRPr>
          </a:p>
          <a:p>
            <a:pPr indent="0" lvl="0" marL="0" rtl="0" algn="l">
              <a:lnSpc>
                <a:spcPct val="100000"/>
              </a:lnSpc>
              <a:spcBef>
                <a:spcPts val="0"/>
              </a:spcBef>
              <a:spcAft>
                <a:spcPts val="0"/>
              </a:spcAft>
              <a:buClr>
                <a:srgbClr val="1F3764"/>
              </a:buClr>
              <a:buSzPts val="2100"/>
              <a:buFont typeface="Calibri"/>
              <a:buNone/>
            </a:pPr>
            <a:r>
              <a:t/>
            </a:r>
            <a:endParaRPr sz="2100">
              <a:latin typeface="Calibri"/>
              <a:ea typeface="Calibri"/>
              <a:cs typeface="Calibri"/>
              <a:sym typeface="Calibri"/>
            </a:endParaRPr>
          </a:p>
          <a:p>
            <a:pPr indent="0" lvl="0" marL="0" rtl="0" algn="l">
              <a:lnSpc>
                <a:spcPct val="100000"/>
              </a:lnSpc>
              <a:spcBef>
                <a:spcPts val="130"/>
              </a:spcBef>
              <a:spcAft>
                <a:spcPts val="0"/>
              </a:spcAft>
              <a:buClr>
                <a:srgbClr val="1F3764"/>
              </a:buClr>
              <a:buSzPts val="2100"/>
              <a:buFont typeface="Calibri"/>
              <a:buNone/>
            </a:pPr>
            <a:r>
              <a:t/>
            </a:r>
            <a:endParaRPr sz="2100">
              <a:latin typeface="Calibri"/>
              <a:ea typeface="Calibri"/>
              <a:cs typeface="Calibri"/>
              <a:sym typeface="Calibri"/>
            </a:endParaRPr>
          </a:p>
          <a:p>
            <a:pPr indent="-266065" lvl="0" marL="334010" rtl="0" algn="l">
              <a:lnSpc>
                <a:spcPct val="100000"/>
              </a:lnSpc>
              <a:spcBef>
                <a:spcPts val="0"/>
              </a:spcBef>
              <a:spcAft>
                <a:spcPts val="0"/>
              </a:spcAft>
              <a:buClr>
                <a:srgbClr val="1F3764"/>
              </a:buClr>
              <a:buSzPts val="2300"/>
              <a:buFont typeface="Calibri"/>
              <a:buChar char="•"/>
            </a:pPr>
            <a:r>
              <a:rPr lang="en-US" sz="2300">
                <a:latin typeface="Calibri"/>
                <a:ea typeface="Calibri"/>
                <a:cs typeface="Calibri"/>
                <a:sym typeface="Calibri"/>
              </a:rPr>
              <a:t>Problem Statement Title – </a:t>
            </a:r>
            <a:r>
              <a:rPr lang="en-US" sz="2300">
                <a:solidFill>
                  <a:srgbClr val="404040"/>
                </a:solidFill>
                <a:latin typeface="Calibri"/>
                <a:ea typeface="Calibri"/>
                <a:cs typeface="Calibri"/>
                <a:sym typeface="Calibri"/>
              </a:rPr>
              <a:t>Real-Time Airfare Price Indexing for Consumer Price Index (CPI) Augmentation</a:t>
            </a:r>
            <a:endParaRPr sz="2300">
              <a:latin typeface="Calibri"/>
              <a:ea typeface="Calibri"/>
              <a:cs typeface="Calibri"/>
              <a:sym typeface="Calibri"/>
            </a:endParaRPr>
          </a:p>
          <a:p>
            <a:pPr indent="0" lvl="0" marL="0" rtl="0" algn="l">
              <a:lnSpc>
                <a:spcPct val="100000"/>
              </a:lnSpc>
              <a:spcBef>
                <a:spcPts val="0"/>
              </a:spcBef>
              <a:spcAft>
                <a:spcPts val="0"/>
              </a:spcAft>
              <a:buClr>
                <a:srgbClr val="1F3764"/>
              </a:buClr>
              <a:buSzPts val="2100"/>
              <a:buFont typeface="Calibri"/>
              <a:buNone/>
            </a:pPr>
            <a:r>
              <a:t/>
            </a:r>
            <a:endParaRPr sz="2100">
              <a:latin typeface="Calibri"/>
              <a:ea typeface="Calibri"/>
              <a:cs typeface="Calibri"/>
              <a:sym typeface="Calibri"/>
            </a:endParaRPr>
          </a:p>
          <a:p>
            <a:pPr indent="0" lvl="0" marL="0" rtl="0" algn="l">
              <a:lnSpc>
                <a:spcPct val="100000"/>
              </a:lnSpc>
              <a:spcBef>
                <a:spcPts val="125"/>
              </a:spcBef>
              <a:spcAft>
                <a:spcPts val="0"/>
              </a:spcAft>
              <a:buClr>
                <a:srgbClr val="1F3764"/>
              </a:buClr>
              <a:buSzPts val="2100"/>
              <a:buFont typeface="Calibri"/>
              <a:buNone/>
            </a:pPr>
            <a:r>
              <a:t/>
            </a:r>
            <a:endParaRPr sz="2100">
              <a:latin typeface="Calibri"/>
              <a:ea typeface="Calibri"/>
              <a:cs typeface="Calibri"/>
              <a:sym typeface="Calibri"/>
            </a:endParaRPr>
          </a:p>
          <a:p>
            <a:pPr indent="-253365" lvl="0" marL="334010" rtl="0" algn="l">
              <a:lnSpc>
                <a:spcPct val="100000"/>
              </a:lnSpc>
              <a:spcBef>
                <a:spcPts val="5"/>
              </a:spcBef>
              <a:spcAft>
                <a:spcPts val="0"/>
              </a:spcAft>
              <a:buClr>
                <a:srgbClr val="1F3764"/>
              </a:buClr>
              <a:buSzPts val="2100"/>
              <a:buFont typeface="Calibri"/>
              <a:buChar char="•"/>
            </a:pPr>
            <a:r>
              <a:rPr lang="en-US" sz="2100">
                <a:latin typeface="Calibri"/>
                <a:ea typeface="Calibri"/>
                <a:cs typeface="Calibri"/>
                <a:sym typeface="Calibri"/>
              </a:rPr>
              <a:t>Team ID – </a:t>
            </a:r>
            <a:endParaRPr sz="2100">
              <a:latin typeface="Calibri"/>
              <a:ea typeface="Calibri"/>
              <a:cs typeface="Calibri"/>
              <a:sym typeface="Calibri"/>
            </a:endParaRPr>
          </a:p>
          <a:p>
            <a:pPr indent="0" lvl="0" marL="0" rtl="0" algn="l">
              <a:lnSpc>
                <a:spcPct val="100000"/>
              </a:lnSpc>
              <a:spcBef>
                <a:spcPts val="0"/>
              </a:spcBef>
              <a:spcAft>
                <a:spcPts val="0"/>
              </a:spcAft>
              <a:buClr>
                <a:srgbClr val="1F3764"/>
              </a:buClr>
              <a:buSzPts val="2100"/>
              <a:buFont typeface="Calibri"/>
              <a:buNone/>
            </a:pPr>
            <a:r>
              <a:t/>
            </a:r>
            <a:endParaRPr sz="2100">
              <a:latin typeface="Calibri"/>
              <a:ea typeface="Calibri"/>
              <a:cs typeface="Calibri"/>
              <a:sym typeface="Calibri"/>
            </a:endParaRPr>
          </a:p>
          <a:p>
            <a:pPr indent="0" lvl="0" marL="0" rtl="0" algn="l">
              <a:lnSpc>
                <a:spcPct val="100000"/>
              </a:lnSpc>
              <a:spcBef>
                <a:spcPts val="125"/>
              </a:spcBef>
              <a:spcAft>
                <a:spcPts val="0"/>
              </a:spcAft>
              <a:buClr>
                <a:srgbClr val="1F3764"/>
              </a:buClr>
              <a:buSzPts val="2100"/>
              <a:buFont typeface="Calibri"/>
              <a:buNone/>
            </a:pPr>
            <a:r>
              <a:t/>
            </a:r>
            <a:endParaRPr sz="2100">
              <a:latin typeface="Calibri"/>
              <a:ea typeface="Calibri"/>
              <a:cs typeface="Calibri"/>
              <a:sym typeface="Calibri"/>
            </a:endParaRPr>
          </a:p>
          <a:p>
            <a:pPr indent="-266065" lvl="0" marL="334010" rtl="0" algn="l">
              <a:lnSpc>
                <a:spcPct val="100000"/>
              </a:lnSpc>
              <a:spcBef>
                <a:spcPts val="0"/>
              </a:spcBef>
              <a:spcAft>
                <a:spcPts val="0"/>
              </a:spcAft>
              <a:buClr>
                <a:srgbClr val="1F3764"/>
              </a:buClr>
              <a:buSzPts val="2300"/>
              <a:buFont typeface="Calibri"/>
              <a:buChar char="•"/>
            </a:pPr>
            <a:r>
              <a:rPr lang="en-US" sz="2300">
                <a:latin typeface="Calibri"/>
                <a:ea typeface="Calibri"/>
                <a:cs typeface="Calibri"/>
                <a:sym typeface="Calibri"/>
              </a:rPr>
              <a:t>Theme – </a:t>
            </a:r>
            <a:r>
              <a:rPr lang="en-US" sz="2300">
                <a:solidFill>
                  <a:srgbClr val="404040"/>
                </a:solidFill>
                <a:latin typeface="Calibri"/>
                <a:ea typeface="Calibri"/>
                <a:cs typeface="Calibri"/>
                <a:sym typeface="Calibri"/>
              </a:rPr>
              <a:t>Smart Automation</a:t>
            </a:r>
            <a:endParaRPr sz="2300">
              <a:latin typeface="Calibri"/>
              <a:ea typeface="Calibri"/>
              <a:cs typeface="Calibri"/>
              <a:sym typeface="Calibri"/>
            </a:endParaRPr>
          </a:p>
          <a:p>
            <a:pPr indent="0" lvl="0" marL="0" rtl="0" algn="l">
              <a:lnSpc>
                <a:spcPct val="100000"/>
              </a:lnSpc>
              <a:spcBef>
                <a:spcPts val="0"/>
              </a:spcBef>
              <a:spcAft>
                <a:spcPts val="0"/>
              </a:spcAft>
              <a:buClr>
                <a:srgbClr val="1F3764"/>
              </a:buClr>
              <a:buSzPts val="2100"/>
              <a:buFont typeface="Calibri"/>
              <a:buNone/>
            </a:pPr>
            <a:r>
              <a:t/>
            </a:r>
            <a:endParaRPr sz="2100">
              <a:latin typeface="Calibri"/>
              <a:ea typeface="Calibri"/>
              <a:cs typeface="Calibri"/>
              <a:sym typeface="Calibri"/>
            </a:endParaRPr>
          </a:p>
          <a:p>
            <a:pPr indent="0" lvl="0" marL="0" rtl="0" algn="l">
              <a:lnSpc>
                <a:spcPct val="100000"/>
              </a:lnSpc>
              <a:spcBef>
                <a:spcPts val="130"/>
              </a:spcBef>
              <a:spcAft>
                <a:spcPts val="0"/>
              </a:spcAft>
              <a:buClr>
                <a:srgbClr val="1F3764"/>
              </a:buClr>
              <a:buSzPts val="2100"/>
              <a:buFont typeface="Calibri"/>
              <a:buNone/>
            </a:pPr>
            <a:r>
              <a:t/>
            </a:r>
            <a:endParaRPr sz="2100">
              <a:latin typeface="Calibri"/>
              <a:ea typeface="Calibri"/>
              <a:cs typeface="Calibri"/>
              <a:sym typeface="Calibri"/>
            </a:endParaRPr>
          </a:p>
          <a:p>
            <a:pPr indent="-266065" lvl="0" marL="334010" rtl="0" algn="l">
              <a:lnSpc>
                <a:spcPct val="100000"/>
              </a:lnSpc>
              <a:spcBef>
                <a:spcPts val="0"/>
              </a:spcBef>
              <a:spcAft>
                <a:spcPts val="0"/>
              </a:spcAft>
              <a:buClr>
                <a:srgbClr val="1F3764"/>
              </a:buClr>
              <a:buSzPts val="2300"/>
              <a:buFont typeface="Calibri"/>
              <a:buChar char="•"/>
            </a:pPr>
            <a:r>
              <a:rPr lang="en-US" sz="2300">
                <a:latin typeface="Calibri"/>
                <a:ea typeface="Calibri"/>
                <a:cs typeface="Calibri"/>
                <a:sym typeface="Calibri"/>
              </a:rPr>
              <a:t>PS Category – </a:t>
            </a:r>
            <a:r>
              <a:rPr lang="en-US" sz="2300">
                <a:solidFill>
                  <a:srgbClr val="404040"/>
                </a:solidFill>
                <a:latin typeface="Calibri"/>
                <a:ea typeface="Calibri"/>
                <a:cs typeface="Calibri"/>
                <a:sym typeface="Calibri"/>
              </a:rPr>
              <a:t>Software</a:t>
            </a:r>
            <a:endParaRPr sz="2300">
              <a:latin typeface="Calibri"/>
              <a:ea typeface="Calibri"/>
              <a:cs typeface="Calibri"/>
              <a:sym typeface="Calibri"/>
            </a:endParaRPr>
          </a:p>
          <a:p>
            <a:pPr indent="0" lvl="0" marL="0" rtl="0" algn="l">
              <a:lnSpc>
                <a:spcPct val="100000"/>
              </a:lnSpc>
              <a:spcBef>
                <a:spcPts val="0"/>
              </a:spcBef>
              <a:spcAft>
                <a:spcPts val="0"/>
              </a:spcAft>
              <a:buClr>
                <a:srgbClr val="1F3764"/>
              </a:buClr>
              <a:buSzPts val="2100"/>
              <a:buFont typeface="Calibri"/>
              <a:buNone/>
            </a:pPr>
            <a:r>
              <a:t/>
            </a:r>
            <a:endParaRPr sz="2100">
              <a:latin typeface="Calibri"/>
              <a:ea typeface="Calibri"/>
              <a:cs typeface="Calibri"/>
              <a:sym typeface="Calibri"/>
            </a:endParaRPr>
          </a:p>
          <a:p>
            <a:pPr indent="0" lvl="0" marL="0" rtl="0" algn="l">
              <a:lnSpc>
                <a:spcPct val="100000"/>
              </a:lnSpc>
              <a:spcBef>
                <a:spcPts val="130"/>
              </a:spcBef>
              <a:spcAft>
                <a:spcPts val="0"/>
              </a:spcAft>
              <a:buClr>
                <a:srgbClr val="1F3764"/>
              </a:buClr>
              <a:buSzPts val="2100"/>
              <a:buFont typeface="Calibri"/>
              <a:buNone/>
            </a:pPr>
            <a:r>
              <a:t/>
            </a:r>
            <a:endParaRPr sz="2100">
              <a:latin typeface="Calibri"/>
              <a:ea typeface="Calibri"/>
              <a:cs typeface="Calibri"/>
              <a:sym typeface="Calibri"/>
            </a:endParaRPr>
          </a:p>
          <a:p>
            <a:pPr indent="-266065" lvl="0" marL="334010" rtl="0" algn="l">
              <a:lnSpc>
                <a:spcPct val="100000"/>
              </a:lnSpc>
              <a:spcBef>
                <a:spcPts val="0"/>
              </a:spcBef>
              <a:spcAft>
                <a:spcPts val="0"/>
              </a:spcAft>
              <a:buClr>
                <a:srgbClr val="1F3764"/>
              </a:buClr>
              <a:buSzPts val="2300"/>
              <a:buFont typeface="Calibri"/>
              <a:buChar char="•"/>
            </a:pPr>
            <a:r>
              <a:rPr lang="en-US" sz="2300">
                <a:latin typeface="Calibri"/>
                <a:ea typeface="Calibri"/>
                <a:cs typeface="Calibri"/>
                <a:sym typeface="Calibri"/>
              </a:rPr>
              <a:t>Team Name – </a:t>
            </a:r>
            <a:r>
              <a:rPr lang="en-US" sz="2300">
                <a:solidFill>
                  <a:srgbClr val="404040"/>
                </a:solidFill>
                <a:latin typeface="Calibri"/>
                <a:ea typeface="Calibri"/>
                <a:cs typeface="Calibri"/>
                <a:sym typeface="Calibri"/>
              </a:rPr>
              <a:t>404 Found</a:t>
            </a:r>
            <a:endParaRPr sz="2300">
              <a:latin typeface="Calibri"/>
              <a:ea typeface="Calibri"/>
              <a:cs typeface="Calibri"/>
              <a:sym typeface="Calibri"/>
            </a:endParaRPr>
          </a:p>
        </p:txBody>
      </p:sp>
      <p:pic>
        <p:nvPicPr>
          <p:cNvPr id="47" name="Google Shape;47;p7"/>
          <p:cNvPicPr preferRelativeResize="0"/>
          <p:nvPr/>
        </p:nvPicPr>
        <p:blipFill rotWithShape="1">
          <a:blip r:embed="rId3">
            <a:alphaModFix/>
          </a:blip>
          <a:srcRect b="0" l="0" r="0" t="0"/>
          <a:stretch/>
        </p:blipFill>
        <p:spPr>
          <a:xfrm>
            <a:off x="13027729" y="2744885"/>
            <a:ext cx="4937758" cy="5289776"/>
          </a:xfrm>
          <a:prstGeom prst="rect">
            <a:avLst/>
          </a:prstGeom>
          <a:noFill/>
          <a:ln>
            <a:noFill/>
          </a:ln>
        </p:spPr>
      </p:pic>
      <p:sp>
        <p:nvSpPr>
          <p:cNvPr id="48" name="Google Shape;48;p7"/>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 name="Google Shape;49;p7"/>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pic>
        <p:nvPicPr>
          <p:cNvPr id="50" name="Google Shape;50;p7"/>
          <p:cNvPicPr preferRelativeResize="0"/>
          <p:nvPr/>
        </p:nvPicPr>
        <p:blipFill>
          <a:blip r:embed="rId4">
            <a:alphaModFix/>
          </a:blip>
          <a:stretch>
            <a:fillRect/>
          </a:stretch>
        </p:blipFill>
        <p:spPr>
          <a:xfrm>
            <a:off x="13027713" y="100001"/>
            <a:ext cx="4394101" cy="18043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8"/>
          <p:cNvSpPr txBox="1"/>
          <p:nvPr/>
        </p:nvSpPr>
        <p:spPr>
          <a:xfrm>
            <a:off x="1027013" y="471169"/>
            <a:ext cx="689100" cy="2436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t/>
            </a:r>
            <a:endParaRPr sz="1500">
              <a:latin typeface="Calibri"/>
              <a:ea typeface="Calibri"/>
              <a:cs typeface="Calibri"/>
              <a:sym typeface="Calibri"/>
            </a:endParaRPr>
          </a:p>
        </p:txBody>
      </p:sp>
      <p:sp>
        <p:nvSpPr>
          <p:cNvPr descr="$PPTXTitle" id="56" name="Google Shape;56;p8"/>
          <p:cNvSpPr txBox="1"/>
          <p:nvPr>
            <p:ph type="title"/>
          </p:nvPr>
        </p:nvSpPr>
        <p:spPr>
          <a:xfrm>
            <a:off x="5564097" y="460502"/>
            <a:ext cx="6885305" cy="528319"/>
          </a:xfrm>
          <a:prstGeom prst="rect">
            <a:avLst/>
          </a:prstGeom>
          <a:noFill/>
          <a:ln>
            <a:noFill/>
          </a:ln>
        </p:spPr>
        <p:txBody>
          <a:bodyPr anchorCtr="0" anchor="t" bIns="0" lIns="0" spcFirstLastPara="1" rIns="0" wrap="square" tIns="12700">
            <a:spAutoFit/>
          </a:bodyPr>
          <a:lstStyle/>
          <a:p>
            <a:pPr indent="0" lvl="0" marL="312420" rtl="0" algn="l">
              <a:lnSpc>
                <a:spcPct val="100000"/>
              </a:lnSpc>
              <a:spcBef>
                <a:spcPts val="0"/>
              </a:spcBef>
              <a:spcAft>
                <a:spcPts val="0"/>
              </a:spcAft>
              <a:buNone/>
            </a:pPr>
            <a:r>
              <a:rPr lang="en-US"/>
              <a:t>IDEA / APPROACH DETAILS</a:t>
            </a:r>
            <a:endParaRPr/>
          </a:p>
        </p:txBody>
      </p:sp>
      <p:sp>
        <p:nvSpPr>
          <p:cNvPr id="57" name="Google Shape;57;p8"/>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58" name="Google Shape;58;p8"/>
          <p:cNvGrpSpPr/>
          <p:nvPr/>
        </p:nvGrpSpPr>
        <p:grpSpPr>
          <a:xfrm>
            <a:off x="1270266" y="1357883"/>
            <a:ext cx="15156815" cy="2003425"/>
            <a:chOff x="1270266" y="1357883"/>
            <a:chExt cx="15156815" cy="2003425"/>
          </a:xfrm>
        </p:grpSpPr>
        <p:sp>
          <p:nvSpPr>
            <p:cNvPr id="59" name="Google Shape;59;p8"/>
            <p:cNvSpPr/>
            <p:nvPr/>
          </p:nvSpPr>
          <p:spPr>
            <a:xfrm>
              <a:off x="1270266" y="1357883"/>
              <a:ext cx="15156815" cy="2003425"/>
            </a:xfrm>
            <a:custGeom>
              <a:rect b="b" l="l" r="r" t="t"/>
              <a:pathLst>
                <a:path extrusionOk="0" h="2003425" w="15156815">
                  <a:moveTo>
                    <a:pt x="15156489" y="2003170"/>
                  </a:moveTo>
                  <a:lnTo>
                    <a:pt x="0" y="2003170"/>
                  </a:lnTo>
                  <a:lnTo>
                    <a:pt x="385762" y="1001585"/>
                  </a:lnTo>
                  <a:lnTo>
                    <a:pt x="0" y="0"/>
                  </a:lnTo>
                  <a:lnTo>
                    <a:pt x="15156489" y="0"/>
                  </a:lnTo>
                  <a:lnTo>
                    <a:pt x="14770727" y="1001585"/>
                  </a:lnTo>
                  <a:lnTo>
                    <a:pt x="15156489" y="2003170"/>
                  </a:lnTo>
                  <a:close/>
                </a:path>
              </a:pathLst>
            </a:custGeom>
            <a:solidFill>
              <a:srgbClr val="EB872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0" name="Google Shape;60;p8"/>
            <p:cNvPicPr preferRelativeResize="0"/>
            <p:nvPr/>
          </p:nvPicPr>
          <p:blipFill rotWithShape="1">
            <a:blip r:embed="rId3">
              <a:alphaModFix/>
            </a:blip>
            <a:srcRect b="0" l="0" r="0" t="0"/>
            <a:stretch/>
          </p:blipFill>
          <p:spPr>
            <a:xfrm>
              <a:off x="1990575" y="1751329"/>
              <a:ext cx="95250" cy="95249"/>
            </a:xfrm>
            <a:prstGeom prst="rect">
              <a:avLst/>
            </a:prstGeom>
            <a:noFill/>
            <a:ln>
              <a:noFill/>
            </a:ln>
          </p:spPr>
        </p:pic>
      </p:grpSp>
      <p:sp>
        <p:nvSpPr>
          <p:cNvPr id="61" name="Google Shape;61;p8"/>
          <p:cNvSpPr/>
          <p:nvPr/>
        </p:nvSpPr>
        <p:spPr>
          <a:xfrm>
            <a:off x="280625" y="6565538"/>
            <a:ext cx="4412348" cy="2386609"/>
          </a:xfrm>
          <a:custGeom>
            <a:rect b="b" l="l" r="r" t="t"/>
            <a:pathLst>
              <a:path extrusionOk="0" h="2199640" w="4123690">
                <a:moveTo>
                  <a:pt x="3271346" y="2199024"/>
                </a:moveTo>
                <a:lnTo>
                  <a:pt x="855436" y="2199024"/>
                </a:lnTo>
                <a:lnTo>
                  <a:pt x="813989" y="2197756"/>
                </a:lnTo>
                <a:lnTo>
                  <a:pt x="773051" y="2193990"/>
                </a:lnTo>
                <a:lnTo>
                  <a:pt x="732668" y="2187785"/>
                </a:lnTo>
                <a:lnTo>
                  <a:pt x="692883" y="2179198"/>
                </a:lnTo>
                <a:lnTo>
                  <a:pt x="653741" y="2168286"/>
                </a:lnTo>
                <a:lnTo>
                  <a:pt x="615288" y="2155107"/>
                </a:lnTo>
                <a:lnTo>
                  <a:pt x="577568" y="2139718"/>
                </a:lnTo>
                <a:lnTo>
                  <a:pt x="540626" y="2122178"/>
                </a:lnTo>
                <a:lnTo>
                  <a:pt x="504507" y="2102543"/>
                </a:lnTo>
                <a:lnTo>
                  <a:pt x="469256" y="2080872"/>
                </a:lnTo>
                <a:lnTo>
                  <a:pt x="434917" y="2057221"/>
                </a:lnTo>
                <a:lnTo>
                  <a:pt x="401535" y="2031649"/>
                </a:lnTo>
                <a:lnTo>
                  <a:pt x="369155" y="2004214"/>
                </a:lnTo>
                <a:lnTo>
                  <a:pt x="337821" y="1974972"/>
                </a:lnTo>
                <a:lnTo>
                  <a:pt x="307580" y="1943981"/>
                </a:lnTo>
                <a:lnTo>
                  <a:pt x="278475" y="1911299"/>
                </a:lnTo>
                <a:lnTo>
                  <a:pt x="250551" y="1876984"/>
                </a:lnTo>
                <a:lnTo>
                  <a:pt x="223853" y="1841093"/>
                </a:lnTo>
                <a:lnTo>
                  <a:pt x="198426" y="1803683"/>
                </a:lnTo>
                <a:lnTo>
                  <a:pt x="174315" y="1764813"/>
                </a:lnTo>
                <a:lnTo>
                  <a:pt x="151564" y="1724540"/>
                </a:lnTo>
                <a:lnTo>
                  <a:pt x="130219" y="1682921"/>
                </a:lnTo>
                <a:lnTo>
                  <a:pt x="110324" y="1640015"/>
                </a:lnTo>
                <a:lnTo>
                  <a:pt x="91923" y="1595878"/>
                </a:lnTo>
                <a:lnTo>
                  <a:pt x="75063" y="1550568"/>
                </a:lnTo>
                <a:lnTo>
                  <a:pt x="59787" y="1504143"/>
                </a:lnTo>
                <a:lnTo>
                  <a:pt x="46140" y="1456661"/>
                </a:lnTo>
                <a:lnTo>
                  <a:pt x="34168" y="1408179"/>
                </a:lnTo>
                <a:lnTo>
                  <a:pt x="23914" y="1358754"/>
                </a:lnTo>
                <a:lnTo>
                  <a:pt x="15424" y="1308445"/>
                </a:lnTo>
                <a:lnTo>
                  <a:pt x="8743" y="1257308"/>
                </a:lnTo>
                <a:lnTo>
                  <a:pt x="3915" y="1205402"/>
                </a:lnTo>
                <a:lnTo>
                  <a:pt x="986" y="1152784"/>
                </a:lnTo>
                <a:lnTo>
                  <a:pt x="0" y="1099512"/>
                </a:lnTo>
                <a:lnTo>
                  <a:pt x="986" y="1046240"/>
                </a:lnTo>
                <a:lnTo>
                  <a:pt x="3915" y="993622"/>
                </a:lnTo>
                <a:lnTo>
                  <a:pt x="8743" y="941715"/>
                </a:lnTo>
                <a:lnTo>
                  <a:pt x="15424" y="890579"/>
                </a:lnTo>
                <a:lnTo>
                  <a:pt x="23914" y="840270"/>
                </a:lnTo>
                <a:lnTo>
                  <a:pt x="34168" y="790845"/>
                </a:lnTo>
                <a:lnTo>
                  <a:pt x="46140" y="742363"/>
                </a:lnTo>
                <a:lnTo>
                  <a:pt x="59787" y="694880"/>
                </a:lnTo>
                <a:lnTo>
                  <a:pt x="75063" y="648455"/>
                </a:lnTo>
                <a:lnTo>
                  <a:pt x="91923" y="603146"/>
                </a:lnTo>
                <a:lnTo>
                  <a:pt x="110324" y="559009"/>
                </a:lnTo>
                <a:lnTo>
                  <a:pt x="130219" y="516102"/>
                </a:lnTo>
                <a:lnTo>
                  <a:pt x="151564" y="474483"/>
                </a:lnTo>
                <a:lnTo>
                  <a:pt x="174315" y="434210"/>
                </a:lnTo>
                <a:lnTo>
                  <a:pt x="198426" y="395340"/>
                </a:lnTo>
                <a:lnTo>
                  <a:pt x="223853" y="357930"/>
                </a:lnTo>
                <a:lnTo>
                  <a:pt x="250551" y="322039"/>
                </a:lnTo>
                <a:lnTo>
                  <a:pt x="278475" y="287724"/>
                </a:lnTo>
                <a:lnTo>
                  <a:pt x="307580" y="255042"/>
                </a:lnTo>
                <a:lnTo>
                  <a:pt x="337821" y="224052"/>
                </a:lnTo>
                <a:lnTo>
                  <a:pt x="369155" y="194810"/>
                </a:lnTo>
                <a:lnTo>
                  <a:pt x="401535" y="167374"/>
                </a:lnTo>
                <a:lnTo>
                  <a:pt x="434917" y="141802"/>
                </a:lnTo>
                <a:lnTo>
                  <a:pt x="469256" y="118152"/>
                </a:lnTo>
                <a:lnTo>
                  <a:pt x="504507" y="96480"/>
                </a:lnTo>
                <a:lnTo>
                  <a:pt x="540626" y="76846"/>
                </a:lnTo>
                <a:lnTo>
                  <a:pt x="577568" y="59305"/>
                </a:lnTo>
                <a:lnTo>
                  <a:pt x="615288" y="43917"/>
                </a:lnTo>
                <a:lnTo>
                  <a:pt x="653741" y="30737"/>
                </a:lnTo>
                <a:lnTo>
                  <a:pt x="692883" y="19825"/>
                </a:lnTo>
                <a:lnTo>
                  <a:pt x="732668" y="11238"/>
                </a:lnTo>
                <a:lnTo>
                  <a:pt x="773051" y="5033"/>
                </a:lnTo>
                <a:lnTo>
                  <a:pt x="813989" y="1267"/>
                </a:lnTo>
                <a:lnTo>
                  <a:pt x="855436" y="0"/>
                </a:lnTo>
                <a:lnTo>
                  <a:pt x="3271346" y="0"/>
                </a:lnTo>
                <a:lnTo>
                  <a:pt x="3312793" y="1267"/>
                </a:lnTo>
                <a:lnTo>
                  <a:pt x="3353730" y="5033"/>
                </a:lnTo>
                <a:lnTo>
                  <a:pt x="3394114" y="11238"/>
                </a:lnTo>
                <a:lnTo>
                  <a:pt x="3433899" y="19825"/>
                </a:lnTo>
                <a:lnTo>
                  <a:pt x="3473040" y="30737"/>
                </a:lnTo>
                <a:lnTo>
                  <a:pt x="3511493" y="43917"/>
                </a:lnTo>
                <a:lnTo>
                  <a:pt x="3549213" y="59305"/>
                </a:lnTo>
                <a:lnTo>
                  <a:pt x="3586155" y="76846"/>
                </a:lnTo>
                <a:lnTo>
                  <a:pt x="3622274" y="96480"/>
                </a:lnTo>
                <a:lnTo>
                  <a:pt x="3657526" y="118152"/>
                </a:lnTo>
                <a:lnTo>
                  <a:pt x="3691865" y="141802"/>
                </a:lnTo>
                <a:lnTo>
                  <a:pt x="3725247" y="167374"/>
                </a:lnTo>
                <a:lnTo>
                  <a:pt x="3757627" y="194810"/>
                </a:lnTo>
                <a:lnTo>
                  <a:pt x="3788960" y="224052"/>
                </a:lnTo>
                <a:lnTo>
                  <a:pt x="3819202" y="255042"/>
                </a:lnTo>
                <a:lnTo>
                  <a:pt x="3848307" y="287724"/>
                </a:lnTo>
                <a:lnTo>
                  <a:pt x="3876231" y="322039"/>
                </a:lnTo>
                <a:lnTo>
                  <a:pt x="3902928" y="357930"/>
                </a:lnTo>
                <a:lnTo>
                  <a:pt x="3928355" y="395340"/>
                </a:lnTo>
                <a:lnTo>
                  <a:pt x="3952466" y="434210"/>
                </a:lnTo>
                <a:lnTo>
                  <a:pt x="3975217" y="474483"/>
                </a:lnTo>
                <a:lnTo>
                  <a:pt x="3996562" y="516102"/>
                </a:lnTo>
                <a:lnTo>
                  <a:pt x="4016458" y="559009"/>
                </a:lnTo>
                <a:lnTo>
                  <a:pt x="4034858" y="603146"/>
                </a:lnTo>
                <a:lnTo>
                  <a:pt x="4051719" y="648455"/>
                </a:lnTo>
                <a:lnTo>
                  <a:pt x="4066995" y="694880"/>
                </a:lnTo>
                <a:lnTo>
                  <a:pt x="4080641" y="742363"/>
                </a:lnTo>
                <a:lnTo>
                  <a:pt x="4092614" y="790845"/>
                </a:lnTo>
                <a:lnTo>
                  <a:pt x="4102867" y="840270"/>
                </a:lnTo>
                <a:lnTo>
                  <a:pt x="4111357" y="890579"/>
                </a:lnTo>
                <a:lnTo>
                  <a:pt x="4118038" y="941715"/>
                </a:lnTo>
                <a:lnTo>
                  <a:pt x="4122866" y="993622"/>
                </a:lnTo>
                <a:lnTo>
                  <a:pt x="4123170" y="999078"/>
                </a:lnTo>
                <a:lnTo>
                  <a:pt x="4123170" y="1199945"/>
                </a:lnTo>
                <a:lnTo>
                  <a:pt x="4118038" y="1257308"/>
                </a:lnTo>
                <a:lnTo>
                  <a:pt x="4111357" y="1308445"/>
                </a:lnTo>
                <a:lnTo>
                  <a:pt x="4102867" y="1358754"/>
                </a:lnTo>
                <a:lnTo>
                  <a:pt x="4092614" y="1408179"/>
                </a:lnTo>
                <a:lnTo>
                  <a:pt x="4080641" y="1456661"/>
                </a:lnTo>
                <a:lnTo>
                  <a:pt x="4066995" y="1504143"/>
                </a:lnTo>
                <a:lnTo>
                  <a:pt x="4051719" y="1550568"/>
                </a:lnTo>
                <a:lnTo>
                  <a:pt x="4034858" y="1595878"/>
                </a:lnTo>
                <a:lnTo>
                  <a:pt x="4016458" y="1640015"/>
                </a:lnTo>
                <a:lnTo>
                  <a:pt x="3996562" y="1682921"/>
                </a:lnTo>
                <a:lnTo>
                  <a:pt x="3975217" y="1724540"/>
                </a:lnTo>
                <a:lnTo>
                  <a:pt x="3952466" y="1764813"/>
                </a:lnTo>
                <a:lnTo>
                  <a:pt x="3928355" y="1803683"/>
                </a:lnTo>
                <a:lnTo>
                  <a:pt x="3902928" y="1841093"/>
                </a:lnTo>
                <a:lnTo>
                  <a:pt x="3876231" y="1876984"/>
                </a:lnTo>
                <a:lnTo>
                  <a:pt x="3848307" y="1911299"/>
                </a:lnTo>
                <a:lnTo>
                  <a:pt x="3819202" y="1943981"/>
                </a:lnTo>
                <a:lnTo>
                  <a:pt x="3788960" y="1974972"/>
                </a:lnTo>
                <a:lnTo>
                  <a:pt x="3757627" y="2004214"/>
                </a:lnTo>
                <a:lnTo>
                  <a:pt x="3725247" y="2031649"/>
                </a:lnTo>
                <a:lnTo>
                  <a:pt x="3691865" y="2057221"/>
                </a:lnTo>
                <a:lnTo>
                  <a:pt x="3657526" y="2080872"/>
                </a:lnTo>
                <a:lnTo>
                  <a:pt x="3622274" y="2102543"/>
                </a:lnTo>
                <a:lnTo>
                  <a:pt x="3586155" y="2122178"/>
                </a:lnTo>
                <a:lnTo>
                  <a:pt x="3549213" y="2139718"/>
                </a:lnTo>
                <a:lnTo>
                  <a:pt x="3511493" y="2155107"/>
                </a:lnTo>
                <a:lnTo>
                  <a:pt x="3473040" y="2168286"/>
                </a:lnTo>
                <a:lnTo>
                  <a:pt x="3433899" y="2179198"/>
                </a:lnTo>
                <a:lnTo>
                  <a:pt x="3394114" y="2187785"/>
                </a:lnTo>
                <a:lnTo>
                  <a:pt x="3353730" y="2193990"/>
                </a:lnTo>
                <a:lnTo>
                  <a:pt x="3312793" y="2197756"/>
                </a:lnTo>
                <a:lnTo>
                  <a:pt x="3271346" y="2199024"/>
                </a:lnTo>
                <a:close/>
              </a:path>
            </a:pathLst>
          </a:custGeom>
          <a:solidFill>
            <a:srgbClr val="EC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 name="Google Shape;62;p8"/>
          <p:cNvSpPr/>
          <p:nvPr/>
        </p:nvSpPr>
        <p:spPr>
          <a:xfrm>
            <a:off x="5244788" y="6566587"/>
            <a:ext cx="3628468" cy="2384511"/>
          </a:xfrm>
          <a:custGeom>
            <a:rect b="b" l="l" r="r" t="t"/>
            <a:pathLst>
              <a:path extrusionOk="0" h="2192654" w="3415029">
                <a:moveTo>
                  <a:pt x="2642892" y="2192179"/>
                </a:moveTo>
                <a:lnTo>
                  <a:pt x="771524" y="2192179"/>
                </a:lnTo>
                <a:lnTo>
                  <a:pt x="731822" y="2190753"/>
                </a:lnTo>
                <a:lnTo>
                  <a:pt x="692641" y="2186520"/>
                </a:lnTo>
                <a:lnTo>
                  <a:pt x="654029" y="2179550"/>
                </a:lnTo>
                <a:lnTo>
                  <a:pt x="616035" y="2169910"/>
                </a:lnTo>
                <a:lnTo>
                  <a:pt x="578708" y="2157671"/>
                </a:lnTo>
                <a:lnTo>
                  <a:pt x="542097" y="2142901"/>
                </a:lnTo>
                <a:lnTo>
                  <a:pt x="506248" y="2125668"/>
                </a:lnTo>
                <a:lnTo>
                  <a:pt x="471212" y="2106043"/>
                </a:lnTo>
                <a:lnTo>
                  <a:pt x="437036" y="2084093"/>
                </a:lnTo>
                <a:lnTo>
                  <a:pt x="403770" y="2059887"/>
                </a:lnTo>
                <a:lnTo>
                  <a:pt x="371461" y="2033494"/>
                </a:lnTo>
                <a:lnTo>
                  <a:pt x="340157" y="2004984"/>
                </a:lnTo>
                <a:lnTo>
                  <a:pt x="309909" y="1974425"/>
                </a:lnTo>
                <a:lnTo>
                  <a:pt x="280763" y="1941885"/>
                </a:lnTo>
                <a:lnTo>
                  <a:pt x="252768" y="1907435"/>
                </a:lnTo>
                <a:lnTo>
                  <a:pt x="225974" y="1871142"/>
                </a:lnTo>
                <a:lnTo>
                  <a:pt x="200428" y="1833075"/>
                </a:lnTo>
                <a:lnTo>
                  <a:pt x="176178" y="1793304"/>
                </a:lnTo>
                <a:lnTo>
                  <a:pt x="153274" y="1751897"/>
                </a:lnTo>
                <a:lnTo>
                  <a:pt x="131764" y="1708923"/>
                </a:lnTo>
                <a:lnTo>
                  <a:pt x="111696" y="1664452"/>
                </a:lnTo>
                <a:lnTo>
                  <a:pt x="93118" y="1618551"/>
                </a:lnTo>
                <a:lnTo>
                  <a:pt x="76080" y="1571289"/>
                </a:lnTo>
                <a:lnTo>
                  <a:pt x="60630" y="1522737"/>
                </a:lnTo>
                <a:lnTo>
                  <a:pt x="46815" y="1472962"/>
                </a:lnTo>
                <a:lnTo>
                  <a:pt x="34686" y="1422033"/>
                </a:lnTo>
                <a:lnTo>
                  <a:pt x="24289" y="1370019"/>
                </a:lnTo>
                <a:lnTo>
                  <a:pt x="15674" y="1316990"/>
                </a:lnTo>
                <a:lnTo>
                  <a:pt x="8889" y="1263013"/>
                </a:lnTo>
                <a:lnTo>
                  <a:pt x="3983" y="1208158"/>
                </a:lnTo>
                <a:lnTo>
                  <a:pt x="1003" y="1152494"/>
                </a:lnTo>
                <a:lnTo>
                  <a:pt x="0" y="1096090"/>
                </a:lnTo>
                <a:lnTo>
                  <a:pt x="1003" y="1039685"/>
                </a:lnTo>
                <a:lnTo>
                  <a:pt x="3983" y="984021"/>
                </a:lnTo>
                <a:lnTo>
                  <a:pt x="8889" y="929166"/>
                </a:lnTo>
                <a:lnTo>
                  <a:pt x="15674" y="875189"/>
                </a:lnTo>
                <a:lnTo>
                  <a:pt x="24289" y="822160"/>
                </a:lnTo>
                <a:lnTo>
                  <a:pt x="34686" y="770146"/>
                </a:lnTo>
                <a:lnTo>
                  <a:pt x="46815" y="719217"/>
                </a:lnTo>
                <a:lnTo>
                  <a:pt x="60630" y="669442"/>
                </a:lnTo>
                <a:lnTo>
                  <a:pt x="76080" y="620889"/>
                </a:lnTo>
                <a:lnTo>
                  <a:pt x="93118" y="573628"/>
                </a:lnTo>
                <a:lnTo>
                  <a:pt x="111696" y="527727"/>
                </a:lnTo>
                <a:lnTo>
                  <a:pt x="131764" y="483255"/>
                </a:lnTo>
                <a:lnTo>
                  <a:pt x="153274" y="440281"/>
                </a:lnTo>
                <a:lnTo>
                  <a:pt x="176178" y="398874"/>
                </a:lnTo>
                <a:lnTo>
                  <a:pt x="200428" y="359103"/>
                </a:lnTo>
                <a:lnTo>
                  <a:pt x="225974" y="321037"/>
                </a:lnTo>
                <a:lnTo>
                  <a:pt x="252768" y="284744"/>
                </a:lnTo>
                <a:lnTo>
                  <a:pt x="280763" y="250293"/>
                </a:lnTo>
                <a:lnTo>
                  <a:pt x="309909" y="217754"/>
                </a:lnTo>
                <a:lnTo>
                  <a:pt x="340157" y="187194"/>
                </a:lnTo>
                <a:lnTo>
                  <a:pt x="371461" y="158684"/>
                </a:lnTo>
                <a:lnTo>
                  <a:pt x="403770" y="132292"/>
                </a:lnTo>
                <a:lnTo>
                  <a:pt x="437036" y="108086"/>
                </a:lnTo>
                <a:lnTo>
                  <a:pt x="471212" y="86136"/>
                </a:lnTo>
                <a:lnTo>
                  <a:pt x="506248" y="66510"/>
                </a:lnTo>
                <a:lnTo>
                  <a:pt x="542097" y="49278"/>
                </a:lnTo>
                <a:lnTo>
                  <a:pt x="578708" y="34507"/>
                </a:lnTo>
                <a:lnTo>
                  <a:pt x="616035" y="22268"/>
                </a:lnTo>
                <a:lnTo>
                  <a:pt x="654029" y="12629"/>
                </a:lnTo>
                <a:lnTo>
                  <a:pt x="692641" y="5658"/>
                </a:lnTo>
                <a:lnTo>
                  <a:pt x="731822" y="1426"/>
                </a:lnTo>
                <a:lnTo>
                  <a:pt x="771524" y="0"/>
                </a:lnTo>
                <a:lnTo>
                  <a:pt x="2642892" y="0"/>
                </a:lnTo>
                <a:lnTo>
                  <a:pt x="2682594" y="1426"/>
                </a:lnTo>
                <a:lnTo>
                  <a:pt x="2721776" y="5658"/>
                </a:lnTo>
                <a:lnTo>
                  <a:pt x="2760387" y="12629"/>
                </a:lnTo>
                <a:lnTo>
                  <a:pt x="2798381" y="22268"/>
                </a:lnTo>
                <a:lnTo>
                  <a:pt x="2835708" y="34507"/>
                </a:lnTo>
                <a:lnTo>
                  <a:pt x="2872319" y="49278"/>
                </a:lnTo>
                <a:lnTo>
                  <a:pt x="2908168" y="66510"/>
                </a:lnTo>
                <a:lnTo>
                  <a:pt x="2943204" y="86136"/>
                </a:lnTo>
                <a:lnTo>
                  <a:pt x="2977380" y="108086"/>
                </a:lnTo>
                <a:lnTo>
                  <a:pt x="3010646" y="132292"/>
                </a:lnTo>
                <a:lnTo>
                  <a:pt x="3042955" y="158684"/>
                </a:lnTo>
                <a:lnTo>
                  <a:pt x="3074259" y="187194"/>
                </a:lnTo>
                <a:lnTo>
                  <a:pt x="3104507" y="217754"/>
                </a:lnTo>
                <a:lnTo>
                  <a:pt x="3133653" y="250293"/>
                </a:lnTo>
                <a:lnTo>
                  <a:pt x="3161648" y="284744"/>
                </a:lnTo>
                <a:lnTo>
                  <a:pt x="3188442" y="321037"/>
                </a:lnTo>
                <a:lnTo>
                  <a:pt x="3213988" y="359103"/>
                </a:lnTo>
                <a:lnTo>
                  <a:pt x="3238238" y="398874"/>
                </a:lnTo>
                <a:lnTo>
                  <a:pt x="3261142" y="440281"/>
                </a:lnTo>
                <a:lnTo>
                  <a:pt x="3282652" y="483255"/>
                </a:lnTo>
                <a:lnTo>
                  <a:pt x="3302720" y="527727"/>
                </a:lnTo>
                <a:lnTo>
                  <a:pt x="3321298" y="573628"/>
                </a:lnTo>
                <a:lnTo>
                  <a:pt x="3338336" y="620889"/>
                </a:lnTo>
                <a:lnTo>
                  <a:pt x="3353786" y="669442"/>
                </a:lnTo>
                <a:lnTo>
                  <a:pt x="3367601" y="719217"/>
                </a:lnTo>
                <a:lnTo>
                  <a:pt x="3379730" y="770146"/>
                </a:lnTo>
                <a:lnTo>
                  <a:pt x="3390127" y="822160"/>
                </a:lnTo>
                <a:lnTo>
                  <a:pt x="3398742" y="875189"/>
                </a:lnTo>
                <a:lnTo>
                  <a:pt x="3405527" y="929166"/>
                </a:lnTo>
                <a:lnTo>
                  <a:pt x="3410433" y="984021"/>
                </a:lnTo>
                <a:lnTo>
                  <a:pt x="3413413" y="1039685"/>
                </a:lnTo>
                <a:lnTo>
                  <a:pt x="3414417" y="1096090"/>
                </a:lnTo>
                <a:lnTo>
                  <a:pt x="3413413" y="1152494"/>
                </a:lnTo>
                <a:lnTo>
                  <a:pt x="3410433" y="1208158"/>
                </a:lnTo>
                <a:lnTo>
                  <a:pt x="3405527" y="1263013"/>
                </a:lnTo>
                <a:lnTo>
                  <a:pt x="3398742" y="1316990"/>
                </a:lnTo>
                <a:lnTo>
                  <a:pt x="3390127" y="1370019"/>
                </a:lnTo>
                <a:lnTo>
                  <a:pt x="3379730" y="1422033"/>
                </a:lnTo>
                <a:lnTo>
                  <a:pt x="3367601" y="1472962"/>
                </a:lnTo>
                <a:lnTo>
                  <a:pt x="3353786" y="1522737"/>
                </a:lnTo>
                <a:lnTo>
                  <a:pt x="3338336" y="1571289"/>
                </a:lnTo>
                <a:lnTo>
                  <a:pt x="3321298" y="1618551"/>
                </a:lnTo>
                <a:lnTo>
                  <a:pt x="3302720" y="1664452"/>
                </a:lnTo>
                <a:lnTo>
                  <a:pt x="3282652" y="1708923"/>
                </a:lnTo>
                <a:lnTo>
                  <a:pt x="3261142" y="1751897"/>
                </a:lnTo>
                <a:lnTo>
                  <a:pt x="3238238" y="1793304"/>
                </a:lnTo>
                <a:lnTo>
                  <a:pt x="3213988" y="1833075"/>
                </a:lnTo>
                <a:lnTo>
                  <a:pt x="3188442" y="1871142"/>
                </a:lnTo>
                <a:lnTo>
                  <a:pt x="3161648" y="1907435"/>
                </a:lnTo>
                <a:lnTo>
                  <a:pt x="3133653" y="1941885"/>
                </a:lnTo>
                <a:lnTo>
                  <a:pt x="3104507" y="1974425"/>
                </a:lnTo>
                <a:lnTo>
                  <a:pt x="3074259" y="2004984"/>
                </a:lnTo>
                <a:lnTo>
                  <a:pt x="3042955" y="2033494"/>
                </a:lnTo>
                <a:lnTo>
                  <a:pt x="3010646" y="2059887"/>
                </a:lnTo>
                <a:lnTo>
                  <a:pt x="2977380" y="2084093"/>
                </a:lnTo>
                <a:lnTo>
                  <a:pt x="2943204" y="2106043"/>
                </a:lnTo>
                <a:lnTo>
                  <a:pt x="2908168" y="2125668"/>
                </a:lnTo>
                <a:lnTo>
                  <a:pt x="2872319" y="2142901"/>
                </a:lnTo>
                <a:lnTo>
                  <a:pt x="2835708" y="2157671"/>
                </a:lnTo>
                <a:lnTo>
                  <a:pt x="2798381" y="2169910"/>
                </a:lnTo>
                <a:lnTo>
                  <a:pt x="2760387" y="2179550"/>
                </a:lnTo>
                <a:lnTo>
                  <a:pt x="2721776" y="2186520"/>
                </a:lnTo>
                <a:lnTo>
                  <a:pt x="2682594" y="2190753"/>
                </a:lnTo>
                <a:lnTo>
                  <a:pt x="2642892" y="2192179"/>
                </a:lnTo>
                <a:close/>
              </a:path>
            </a:pathLst>
          </a:custGeom>
          <a:solidFill>
            <a:srgbClr val="EC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 name="Google Shape;63;p8"/>
          <p:cNvSpPr/>
          <p:nvPr/>
        </p:nvSpPr>
        <p:spPr>
          <a:xfrm>
            <a:off x="9094950" y="6532524"/>
            <a:ext cx="3732310" cy="2672563"/>
          </a:xfrm>
          <a:custGeom>
            <a:rect b="b" l="l" r="r" t="t"/>
            <a:pathLst>
              <a:path extrusionOk="0" h="2199640" w="3496309">
                <a:moveTo>
                  <a:pt x="2727795" y="2199024"/>
                </a:moveTo>
                <a:lnTo>
                  <a:pt x="771525" y="2199024"/>
                </a:lnTo>
                <a:lnTo>
                  <a:pt x="731822" y="2197593"/>
                </a:lnTo>
                <a:lnTo>
                  <a:pt x="692641" y="2193347"/>
                </a:lnTo>
                <a:lnTo>
                  <a:pt x="654029" y="2186355"/>
                </a:lnTo>
                <a:lnTo>
                  <a:pt x="616036" y="2176685"/>
                </a:lnTo>
                <a:lnTo>
                  <a:pt x="578709" y="2164408"/>
                </a:lnTo>
                <a:lnTo>
                  <a:pt x="542097" y="2149592"/>
                </a:lnTo>
                <a:lnTo>
                  <a:pt x="506249" y="2132306"/>
                </a:lnTo>
                <a:lnTo>
                  <a:pt x="471212" y="2112619"/>
                </a:lnTo>
                <a:lnTo>
                  <a:pt x="437037" y="2090600"/>
                </a:lnTo>
                <a:lnTo>
                  <a:pt x="403770" y="2066318"/>
                </a:lnTo>
                <a:lnTo>
                  <a:pt x="371461" y="2039844"/>
                </a:lnTo>
                <a:lnTo>
                  <a:pt x="340158" y="2011244"/>
                </a:lnTo>
                <a:lnTo>
                  <a:pt x="309909" y="1980590"/>
                </a:lnTo>
                <a:lnTo>
                  <a:pt x="280763" y="1947949"/>
                </a:lnTo>
                <a:lnTo>
                  <a:pt x="252769" y="1913390"/>
                </a:lnTo>
                <a:lnTo>
                  <a:pt x="225974" y="1876984"/>
                </a:lnTo>
                <a:lnTo>
                  <a:pt x="200428" y="1838799"/>
                </a:lnTo>
                <a:lnTo>
                  <a:pt x="176179" y="1798903"/>
                </a:lnTo>
                <a:lnTo>
                  <a:pt x="153274" y="1757367"/>
                </a:lnTo>
                <a:lnTo>
                  <a:pt x="131764" y="1714259"/>
                </a:lnTo>
                <a:lnTo>
                  <a:pt x="111696" y="1669649"/>
                </a:lnTo>
                <a:lnTo>
                  <a:pt x="93119" y="1623604"/>
                </a:lnTo>
                <a:lnTo>
                  <a:pt x="76080" y="1576196"/>
                </a:lnTo>
                <a:lnTo>
                  <a:pt x="60630" y="1527491"/>
                </a:lnTo>
                <a:lnTo>
                  <a:pt x="46816" y="1477561"/>
                </a:lnTo>
                <a:lnTo>
                  <a:pt x="34686" y="1426473"/>
                </a:lnTo>
                <a:lnTo>
                  <a:pt x="24289" y="1374297"/>
                </a:lnTo>
                <a:lnTo>
                  <a:pt x="15674" y="1321102"/>
                </a:lnTo>
                <a:lnTo>
                  <a:pt x="8889" y="1266957"/>
                </a:lnTo>
                <a:lnTo>
                  <a:pt x="3983" y="1211931"/>
                </a:lnTo>
                <a:lnTo>
                  <a:pt x="1004" y="1156093"/>
                </a:lnTo>
                <a:lnTo>
                  <a:pt x="0" y="1099512"/>
                </a:lnTo>
                <a:lnTo>
                  <a:pt x="1004" y="1042931"/>
                </a:lnTo>
                <a:lnTo>
                  <a:pt x="3983" y="987093"/>
                </a:lnTo>
                <a:lnTo>
                  <a:pt x="8889" y="932067"/>
                </a:lnTo>
                <a:lnTo>
                  <a:pt x="15674" y="877922"/>
                </a:lnTo>
                <a:lnTo>
                  <a:pt x="24289" y="824727"/>
                </a:lnTo>
                <a:lnTo>
                  <a:pt x="34686" y="772551"/>
                </a:lnTo>
                <a:lnTo>
                  <a:pt x="46816" y="721463"/>
                </a:lnTo>
                <a:lnTo>
                  <a:pt x="60630" y="671532"/>
                </a:lnTo>
                <a:lnTo>
                  <a:pt x="76080" y="622828"/>
                </a:lnTo>
                <a:lnTo>
                  <a:pt x="93119" y="575419"/>
                </a:lnTo>
                <a:lnTo>
                  <a:pt x="111696" y="529375"/>
                </a:lnTo>
                <a:lnTo>
                  <a:pt x="131764" y="484764"/>
                </a:lnTo>
                <a:lnTo>
                  <a:pt x="153274" y="441656"/>
                </a:lnTo>
                <a:lnTo>
                  <a:pt x="176179" y="400120"/>
                </a:lnTo>
                <a:lnTo>
                  <a:pt x="200428" y="360225"/>
                </a:lnTo>
                <a:lnTo>
                  <a:pt x="225974" y="322039"/>
                </a:lnTo>
                <a:lnTo>
                  <a:pt x="252769" y="285633"/>
                </a:lnTo>
                <a:lnTo>
                  <a:pt x="280763" y="251075"/>
                </a:lnTo>
                <a:lnTo>
                  <a:pt x="309909" y="218434"/>
                </a:lnTo>
                <a:lnTo>
                  <a:pt x="340158" y="187779"/>
                </a:lnTo>
                <a:lnTo>
                  <a:pt x="371461" y="159180"/>
                </a:lnTo>
                <a:lnTo>
                  <a:pt x="403770" y="132705"/>
                </a:lnTo>
                <a:lnTo>
                  <a:pt x="437037" y="108423"/>
                </a:lnTo>
                <a:lnTo>
                  <a:pt x="471212" y="86405"/>
                </a:lnTo>
                <a:lnTo>
                  <a:pt x="506249" y="66718"/>
                </a:lnTo>
                <a:lnTo>
                  <a:pt x="542097" y="49431"/>
                </a:lnTo>
                <a:lnTo>
                  <a:pt x="578709" y="34615"/>
                </a:lnTo>
                <a:lnTo>
                  <a:pt x="616036" y="22338"/>
                </a:lnTo>
                <a:lnTo>
                  <a:pt x="654029" y="12668"/>
                </a:lnTo>
                <a:lnTo>
                  <a:pt x="692641" y="5676"/>
                </a:lnTo>
                <a:lnTo>
                  <a:pt x="731822" y="1430"/>
                </a:lnTo>
                <a:lnTo>
                  <a:pt x="771525" y="0"/>
                </a:lnTo>
                <a:lnTo>
                  <a:pt x="2727795" y="0"/>
                </a:lnTo>
                <a:lnTo>
                  <a:pt x="2767498" y="1430"/>
                </a:lnTo>
                <a:lnTo>
                  <a:pt x="2806679" y="5676"/>
                </a:lnTo>
                <a:lnTo>
                  <a:pt x="2845291" y="12668"/>
                </a:lnTo>
                <a:lnTo>
                  <a:pt x="2883284" y="22338"/>
                </a:lnTo>
                <a:lnTo>
                  <a:pt x="2920611" y="34615"/>
                </a:lnTo>
                <a:lnTo>
                  <a:pt x="2957223" y="49431"/>
                </a:lnTo>
                <a:lnTo>
                  <a:pt x="2993071" y="66718"/>
                </a:lnTo>
                <a:lnTo>
                  <a:pt x="3028108" y="86405"/>
                </a:lnTo>
                <a:lnTo>
                  <a:pt x="3062283" y="108423"/>
                </a:lnTo>
                <a:lnTo>
                  <a:pt x="3095550" y="132705"/>
                </a:lnTo>
                <a:lnTo>
                  <a:pt x="3127859" y="159180"/>
                </a:lnTo>
                <a:lnTo>
                  <a:pt x="3159162" y="187779"/>
                </a:lnTo>
                <a:lnTo>
                  <a:pt x="3189411" y="218434"/>
                </a:lnTo>
                <a:lnTo>
                  <a:pt x="3218557" y="251075"/>
                </a:lnTo>
                <a:lnTo>
                  <a:pt x="3246551" y="285633"/>
                </a:lnTo>
                <a:lnTo>
                  <a:pt x="3273346" y="322039"/>
                </a:lnTo>
                <a:lnTo>
                  <a:pt x="3298892" y="360225"/>
                </a:lnTo>
                <a:lnTo>
                  <a:pt x="3323141" y="400120"/>
                </a:lnTo>
                <a:lnTo>
                  <a:pt x="3346045" y="441656"/>
                </a:lnTo>
                <a:lnTo>
                  <a:pt x="3367556" y="484764"/>
                </a:lnTo>
                <a:lnTo>
                  <a:pt x="3387624" y="529375"/>
                </a:lnTo>
                <a:lnTo>
                  <a:pt x="3406201" y="575419"/>
                </a:lnTo>
                <a:lnTo>
                  <a:pt x="3423239" y="622828"/>
                </a:lnTo>
                <a:lnTo>
                  <a:pt x="3438690" y="671532"/>
                </a:lnTo>
                <a:lnTo>
                  <a:pt x="3452504" y="721463"/>
                </a:lnTo>
                <a:lnTo>
                  <a:pt x="3464634" y="772551"/>
                </a:lnTo>
                <a:lnTo>
                  <a:pt x="3475030" y="824727"/>
                </a:lnTo>
                <a:lnTo>
                  <a:pt x="3483645" y="877922"/>
                </a:lnTo>
                <a:lnTo>
                  <a:pt x="3490430" y="932067"/>
                </a:lnTo>
                <a:lnTo>
                  <a:pt x="3495337" y="987093"/>
                </a:lnTo>
                <a:lnTo>
                  <a:pt x="3496104" y="1001476"/>
                </a:lnTo>
                <a:lnTo>
                  <a:pt x="3496104" y="1197548"/>
                </a:lnTo>
                <a:lnTo>
                  <a:pt x="3490430" y="1266957"/>
                </a:lnTo>
                <a:lnTo>
                  <a:pt x="3483645" y="1321102"/>
                </a:lnTo>
                <a:lnTo>
                  <a:pt x="3475030" y="1374297"/>
                </a:lnTo>
                <a:lnTo>
                  <a:pt x="3464634" y="1426473"/>
                </a:lnTo>
                <a:lnTo>
                  <a:pt x="3452504" y="1477561"/>
                </a:lnTo>
                <a:lnTo>
                  <a:pt x="3438690" y="1527491"/>
                </a:lnTo>
                <a:lnTo>
                  <a:pt x="3423239" y="1576196"/>
                </a:lnTo>
                <a:lnTo>
                  <a:pt x="3406201" y="1623604"/>
                </a:lnTo>
                <a:lnTo>
                  <a:pt x="3387624" y="1669649"/>
                </a:lnTo>
                <a:lnTo>
                  <a:pt x="3367556" y="1714259"/>
                </a:lnTo>
                <a:lnTo>
                  <a:pt x="3346045" y="1757367"/>
                </a:lnTo>
                <a:lnTo>
                  <a:pt x="3323141" y="1798903"/>
                </a:lnTo>
                <a:lnTo>
                  <a:pt x="3298892" y="1838799"/>
                </a:lnTo>
                <a:lnTo>
                  <a:pt x="3273346" y="1876984"/>
                </a:lnTo>
                <a:lnTo>
                  <a:pt x="3246551" y="1913390"/>
                </a:lnTo>
                <a:lnTo>
                  <a:pt x="3218557" y="1947949"/>
                </a:lnTo>
                <a:lnTo>
                  <a:pt x="3189411" y="1980590"/>
                </a:lnTo>
                <a:lnTo>
                  <a:pt x="3159162" y="2011244"/>
                </a:lnTo>
                <a:lnTo>
                  <a:pt x="3127859" y="2039844"/>
                </a:lnTo>
                <a:lnTo>
                  <a:pt x="3095550" y="2066318"/>
                </a:lnTo>
                <a:lnTo>
                  <a:pt x="3062283" y="2090600"/>
                </a:lnTo>
                <a:lnTo>
                  <a:pt x="3028108" y="2112619"/>
                </a:lnTo>
                <a:lnTo>
                  <a:pt x="2993071" y="2132306"/>
                </a:lnTo>
                <a:lnTo>
                  <a:pt x="2957223" y="2149592"/>
                </a:lnTo>
                <a:lnTo>
                  <a:pt x="2920611" y="2164408"/>
                </a:lnTo>
                <a:lnTo>
                  <a:pt x="2883284" y="2176685"/>
                </a:lnTo>
                <a:lnTo>
                  <a:pt x="2845291" y="2186355"/>
                </a:lnTo>
                <a:lnTo>
                  <a:pt x="2806679" y="2193347"/>
                </a:lnTo>
                <a:lnTo>
                  <a:pt x="2767498" y="2197593"/>
                </a:lnTo>
                <a:lnTo>
                  <a:pt x="2727795" y="2199024"/>
                </a:lnTo>
                <a:close/>
              </a:path>
            </a:pathLst>
          </a:custGeom>
          <a:solidFill>
            <a:srgbClr val="EC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8"/>
          <p:cNvSpPr/>
          <p:nvPr/>
        </p:nvSpPr>
        <p:spPr>
          <a:xfrm>
            <a:off x="13059525" y="6532525"/>
            <a:ext cx="3984476" cy="2294190"/>
          </a:xfrm>
          <a:custGeom>
            <a:rect b="b" l="l" r="r" t="t"/>
            <a:pathLst>
              <a:path extrusionOk="0" h="2099945" w="3732530">
                <a:moveTo>
                  <a:pt x="2960502" y="2099932"/>
                </a:moveTo>
                <a:lnTo>
                  <a:pt x="771524" y="2099932"/>
                </a:lnTo>
                <a:lnTo>
                  <a:pt x="730550" y="2098476"/>
                </a:lnTo>
                <a:lnTo>
                  <a:pt x="690132" y="2094158"/>
                </a:lnTo>
                <a:lnTo>
                  <a:pt x="650324" y="2087051"/>
                </a:lnTo>
                <a:lnTo>
                  <a:pt x="611181" y="2077226"/>
                </a:lnTo>
                <a:lnTo>
                  <a:pt x="572754" y="2064756"/>
                </a:lnTo>
                <a:lnTo>
                  <a:pt x="535097" y="2049714"/>
                </a:lnTo>
                <a:lnTo>
                  <a:pt x="498265" y="2032173"/>
                </a:lnTo>
                <a:lnTo>
                  <a:pt x="462309" y="2012204"/>
                </a:lnTo>
                <a:lnTo>
                  <a:pt x="427283" y="1989881"/>
                </a:lnTo>
                <a:lnTo>
                  <a:pt x="393241" y="1965276"/>
                </a:lnTo>
                <a:lnTo>
                  <a:pt x="360236" y="1938462"/>
                </a:lnTo>
                <a:lnTo>
                  <a:pt x="328321" y="1909511"/>
                </a:lnTo>
                <a:lnTo>
                  <a:pt x="297550" y="1878496"/>
                </a:lnTo>
                <a:lnTo>
                  <a:pt x="267975" y="1845489"/>
                </a:lnTo>
                <a:lnTo>
                  <a:pt x="239651" y="1810563"/>
                </a:lnTo>
                <a:lnTo>
                  <a:pt x="212630" y="1773791"/>
                </a:lnTo>
                <a:lnTo>
                  <a:pt x="186966" y="1735245"/>
                </a:lnTo>
                <a:lnTo>
                  <a:pt x="162712" y="1694997"/>
                </a:lnTo>
                <a:lnTo>
                  <a:pt x="139922" y="1653120"/>
                </a:lnTo>
                <a:lnTo>
                  <a:pt x="118649" y="1609687"/>
                </a:lnTo>
                <a:lnTo>
                  <a:pt x="98945" y="1564771"/>
                </a:lnTo>
                <a:lnTo>
                  <a:pt x="80866" y="1518443"/>
                </a:lnTo>
                <a:lnTo>
                  <a:pt x="64462" y="1470777"/>
                </a:lnTo>
                <a:lnTo>
                  <a:pt x="49789" y="1421844"/>
                </a:lnTo>
                <a:lnTo>
                  <a:pt x="36900" y="1371719"/>
                </a:lnTo>
                <a:lnTo>
                  <a:pt x="25847" y="1320472"/>
                </a:lnTo>
                <a:lnTo>
                  <a:pt x="16684" y="1268177"/>
                </a:lnTo>
                <a:lnTo>
                  <a:pt x="9465" y="1214907"/>
                </a:lnTo>
                <a:lnTo>
                  <a:pt x="4242" y="1160733"/>
                </a:lnTo>
                <a:lnTo>
                  <a:pt x="1069" y="1105728"/>
                </a:lnTo>
                <a:lnTo>
                  <a:pt x="0" y="1049966"/>
                </a:lnTo>
                <a:lnTo>
                  <a:pt x="1069" y="994203"/>
                </a:lnTo>
                <a:lnTo>
                  <a:pt x="4242" y="939198"/>
                </a:lnTo>
                <a:lnTo>
                  <a:pt x="9465" y="885025"/>
                </a:lnTo>
                <a:lnTo>
                  <a:pt x="16684" y="831754"/>
                </a:lnTo>
                <a:lnTo>
                  <a:pt x="25847" y="779459"/>
                </a:lnTo>
                <a:lnTo>
                  <a:pt x="36900" y="728212"/>
                </a:lnTo>
                <a:lnTo>
                  <a:pt x="49789" y="678086"/>
                </a:lnTo>
                <a:lnTo>
                  <a:pt x="64462" y="629154"/>
                </a:lnTo>
                <a:lnTo>
                  <a:pt x="80866" y="581488"/>
                </a:lnTo>
                <a:lnTo>
                  <a:pt x="98945" y="535160"/>
                </a:lnTo>
                <a:lnTo>
                  <a:pt x="118649" y="490244"/>
                </a:lnTo>
                <a:lnTo>
                  <a:pt x="139922" y="446811"/>
                </a:lnTo>
                <a:lnTo>
                  <a:pt x="162712" y="404934"/>
                </a:lnTo>
                <a:lnTo>
                  <a:pt x="186966" y="364686"/>
                </a:lnTo>
                <a:lnTo>
                  <a:pt x="212630" y="326140"/>
                </a:lnTo>
                <a:lnTo>
                  <a:pt x="239651" y="289367"/>
                </a:lnTo>
                <a:lnTo>
                  <a:pt x="267975" y="254442"/>
                </a:lnTo>
                <a:lnTo>
                  <a:pt x="297550" y="221435"/>
                </a:lnTo>
                <a:lnTo>
                  <a:pt x="328321" y="190420"/>
                </a:lnTo>
                <a:lnTo>
                  <a:pt x="360236" y="161469"/>
                </a:lnTo>
                <a:lnTo>
                  <a:pt x="393241" y="134654"/>
                </a:lnTo>
                <a:lnTo>
                  <a:pt x="427283" y="110050"/>
                </a:lnTo>
                <a:lnTo>
                  <a:pt x="462309" y="87727"/>
                </a:lnTo>
                <a:lnTo>
                  <a:pt x="498265" y="67758"/>
                </a:lnTo>
                <a:lnTo>
                  <a:pt x="535097" y="50217"/>
                </a:lnTo>
                <a:lnTo>
                  <a:pt x="572754" y="35175"/>
                </a:lnTo>
                <a:lnTo>
                  <a:pt x="611181" y="22705"/>
                </a:lnTo>
                <a:lnTo>
                  <a:pt x="650324" y="12880"/>
                </a:lnTo>
                <a:lnTo>
                  <a:pt x="690132" y="5773"/>
                </a:lnTo>
                <a:lnTo>
                  <a:pt x="730550" y="1455"/>
                </a:lnTo>
                <a:lnTo>
                  <a:pt x="771524" y="0"/>
                </a:lnTo>
                <a:lnTo>
                  <a:pt x="2960502" y="0"/>
                </a:lnTo>
                <a:lnTo>
                  <a:pt x="3001477" y="1455"/>
                </a:lnTo>
                <a:lnTo>
                  <a:pt x="3041895" y="5773"/>
                </a:lnTo>
                <a:lnTo>
                  <a:pt x="3081702" y="12880"/>
                </a:lnTo>
                <a:lnTo>
                  <a:pt x="3120846" y="22705"/>
                </a:lnTo>
                <a:lnTo>
                  <a:pt x="3159273" y="35175"/>
                </a:lnTo>
                <a:lnTo>
                  <a:pt x="3196929" y="50217"/>
                </a:lnTo>
                <a:lnTo>
                  <a:pt x="3233762" y="67758"/>
                </a:lnTo>
                <a:lnTo>
                  <a:pt x="3269718" y="87727"/>
                </a:lnTo>
                <a:lnTo>
                  <a:pt x="3304744" y="110050"/>
                </a:lnTo>
                <a:lnTo>
                  <a:pt x="3338786" y="134654"/>
                </a:lnTo>
                <a:lnTo>
                  <a:pt x="3371791" y="161469"/>
                </a:lnTo>
                <a:lnTo>
                  <a:pt x="3403706" y="190420"/>
                </a:lnTo>
                <a:lnTo>
                  <a:pt x="3434477" y="221435"/>
                </a:lnTo>
                <a:lnTo>
                  <a:pt x="3464051" y="254442"/>
                </a:lnTo>
                <a:lnTo>
                  <a:pt x="3492376" y="289367"/>
                </a:lnTo>
                <a:lnTo>
                  <a:pt x="3519396" y="326140"/>
                </a:lnTo>
                <a:lnTo>
                  <a:pt x="3545060" y="364686"/>
                </a:lnTo>
                <a:lnTo>
                  <a:pt x="3569314" y="404934"/>
                </a:lnTo>
                <a:lnTo>
                  <a:pt x="3592104" y="446811"/>
                </a:lnTo>
                <a:lnTo>
                  <a:pt x="3613378" y="490244"/>
                </a:lnTo>
                <a:lnTo>
                  <a:pt x="3633081" y="535160"/>
                </a:lnTo>
                <a:lnTo>
                  <a:pt x="3651161" y="581488"/>
                </a:lnTo>
                <a:lnTo>
                  <a:pt x="3667564" y="629154"/>
                </a:lnTo>
                <a:lnTo>
                  <a:pt x="3682237" y="678086"/>
                </a:lnTo>
                <a:lnTo>
                  <a:pt x="3695127" y="728212"/>
                </a:lnTo>
                <a:lnTo>
                  <a:pt x="3706180" y="779459"/>
                </a:lnTo>
                <a:lnTo>
                  <a:pt x="3715342" y="831754"/>
                </a:lnTo>
                <a:lnTo>
                  <a:pt x="3722562" y="885025"/>
                </a:lnTo>
                <a:lnTo>
                  <a:pt x="3727785" y="939198"/>
                </a:lnTo>
                <a:lnTo>
                  <a:pt x="3730958" y="994203"/>
                </a:lnTo>
                <a:lnTo>
                  <a:pt x="3732027" y="1049966"/>
                </a:lnTo>
                <a:lnTo>
                  <a:pt x="3730958" y="1105728"/>
                </a:lnTo>
                <a:lnTo>
                  <a:pt x="3727785" y="1160733"/>
                </a:lnTo>
                <a:lnTo>
                  <a:pt x="3722562" y="1214907"/>
                </a:lnTo>
                <a:lnTo>
                  <a:pt x="3715342" y="1268177"/>
                </a:lnTo>
                <a:lnTo>
                  <a:pt x="3706180" y="1320472"/>
                </a:lnTo>
                <a:lnTo>
                  <a:pt x="3695127" y="1371719"/>
                </a:lnTo>
                <a:lnTo>
                  <a:pt x="3682237" y="1421844"/>
                </a:lnTo>
                <a:lnTo>
                  <a:pt x="3667564" y="1470777"/>
                </a:lnTo>
                <a:lnTo>
                  <a:pt x="3651161" y="1518443"/>
                </a:lnTo>
                <a:lnTo>
                  <a:pt x="3633081" y="1564771"/>
                </a:lnTo>
                <a:lnTo>
                  <a:pt x="3613378" y="1609687"/>
                </a:lnTo>
                <a:lnTo>
                  <a:pt x="3592104" y="1653120"/>
                </a:lnTo>
                <a:lnTo>
                  <a:pt x="3569314" y="1694997"/>
                </a:lnTo>
                <a:lnTo>
                  <a:pt x="3545060" y="1735245"/>
                </a:lnTo>
                <a:lnTo>
                  <a:pt x="3519396" y="1773791"/>
                </a:lnTo>
                <a:lnTo>
                  <a:pt x="3492376" y="1810563"/>
                </a:lnTo>
                <a:lnTo>
                  <a:pt x="3464051" y="1845489"/>
                </a:lnTo>
                <a:lnTo>
                  <a:pt x="3434477" y="1878496"/>
                </a:lnTo>
                <a:lnTo>
                  <a:pt x="3403706" y="1909511"/>
                </a:lnTo>
                <a:lnTo>
                  <a:pt x="3371791" y="1938462"/>
                </a:lnTo>
                <a:lnTo>
                  <a:pt x="3338786" y="1965276"/>
                </a:lnTo>
                <a:lnTo>
                  <a:pt x="3304744" y="1989881"/>
                </a:lnTo>
                <a:lnTo>
                  <a:pt x="3269718" y="2012204"/>
                </a:lnTo>
                <a:lnTo>
                  <a:pt x="3233762" y="2032173"/>
                </a:lnTo>
                <a:lnTo>
                  <a:pt x="3196929" y="2049714"/>
                </a:lnTo>
                <a:lnTo>
                  <a:pt x="3159273" y="2064756"/>
                </a:lnTo>
                <a:lnTo>
                  <a:pt x="3120846" y="2077226"/>
                </a:lnTo>
                <a:lnTo>
                  <a:pt x="3081702" y="2087051"/>
                </a:lnTo>
                <a:lnTo>
                  <a:pt x="3041895" y="2094158"/>
                </a:lnTo>
                <a:lnTo>
                  <a:pt x="3001477" y="2098476"/>
                </a:lnTo>
                <a:lnTo>
                  <a:pt x="2960502" y="2099932"/>
                </a:lnTo>
                <a:close/>
              </a:path>
            </a:pathLst>
          </a:custGeom>
          <a:solidFill>
            <a:srgbClr val="EC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 name="Google Shape;65;p8"/>
          <p:cNvSpPr txBox="1"/>
          <p:nvPr/>
        </p:nvSpPr>
        <p:spPr>
          <a:xfrm>
            <a:off x="2234901" y="1571942"/>
            <a:ext cx="13819505" cy="1511300"/>
          </a:xfrm>
          <a:prstGeom prst="rect">
            <a:avLst/>
          </a:prstGeom>
          <a:noFill/>
          <a:ln>
            <a:noFill/>
          </a:ln>
        </p:spPr>
        <p:txBody>
          <a:bodyPr anchorCtr="0" anchor="t" bIns="0" lIns="0" spcFirstLastPara="1" rIns="0" wrap="square" tIns="11425">
            <a:spAutoFit/>
          </a:bodyPr>
          <a:lstStyle/>
          <a:p>
            <a:pPr indent="0" lvl="0" marL="12700" marR="5080" rtl="0" algn="l">
              <a:lnSpc>
                <a:spcPct val="101600"/>
              </a:lnSpc>
              <a:spcBef>
                <a:spcPts val="0"/>
              </a:spcBef>
              <a:spcAft>
                <a:spcPts val="0"/>
              </a:spcAft>
              <a:buNone/>
            </a:pPr>
            <a:r>
              <a:rPr lang="en-US" sz="2400">
                <a:latin typeface="Roboto"/>
                <a:ea typeface="Roboto"/>
                <a:cs typeface="Roboto"/>
                <a:sym typeface="Roboto"/>
              </a:rPr>
              <a:t>The Ministry of Statistics and Programme Implementation (MoSPI), via the National Statistical Office (NSO), measures and publishes India's monthly Consumer Price Index (CPI). This index dictates the country's inflation figures and heavily influences the Reserve Bank of India (RBI) when setting</a:t>
            </a:r>
            <a:endParaRPr sz="2400">
              <a:latin typeface="Roboto"/>
              <a:ea typeface="Roboto"/>
              <a:cs typeface="Roboto"/>
              <a:sym typeface="Roboto"/>
            </a:endParaRPr>
          </a:p>
          <a:p>
            <a:pPr indent="0" lvl="0" marL="12700" rtl="0" algn="l">
              <a:lnSpc>
                <a:spcPct val="100000"/>
              </a:lnSpc>
              <a:spcBef>
                <a:spcPts val="45"/>
              </a:spcBef>
              <a:spcAft>
                <a:spcPts val="0"/>
              </a:spcAft>
              <a:buNone/>
            </a:pPr>
            <a:r>
              <a:rPr lang="en-US" sz="2400">
                <a:latin typeface="Roboto"/>
                <a:ea typeface="Roboto"/>
                <a:cs typeface="Roboto"/>
                <a:sym typeface="Roboto"/>
              </a:rPr>
              <a:t>benchmark interest (repo) rates.</a:t>
            </a:r>
            <a:endParaRPr sz="2400">
              <a:latin typeface="Roboto"/>
              <a:ea typeface="Roboto"/>
              <a:cs typeface="Roboto"/>
              <a:sym typeface="Roboto"/>
            </a:endParaRPr>
          </a:p>
        </p:txBody>
      </p:sp>
      <p:sp>
        <p:nvSpPr>
          <p:cNvPr id="66" name="Google Shape;66;p8"/>
          <p:cNvSpPr txBox="1"/>
          <p:nvPr/>
        </p:nvSpPr>
        <p:spPr>
          <a:xfrm>
            <a:off x="830525" y="6603400"/>
            <a:ext cx="3347700" cy="1090800"/>
          </a:xfrm>
          <a:prstGeom prst="rect">
            <a:avLst/>
          </a:prstGeom>
          <a:noFill/>
          <a:ln>
            <a:noFill/>
          </a:ln>
        </p:spPr>
        <p:txBody>
          <a:bodyPr anchorCtr="0" anchor="t" bIns="0" lIns="0" spcFirstLastPara="1" rIns="0" wrap="square" tIns="29825">
            <a:spAutoFit/>
          </a:bodyPr>
          <a:lstStyle/>
          <a:p>
            <a:pPr indent="0" lvl="0" marL="12700" marR="5080" rtl="0" algn="just">
              <a:lnSpc>
                <a:spcPct val="118048"/>
              </a:lnSpc>
              <a:spcBef>
                <a:spcPts val="0"/>
              </a:spcBef>
              <a:spcAft>
                <a:spcPts val="0"/>
              </a:spcAft>
              <a:buNone/>
            </a:pPr>
            <a:r>
              <a:rPr b="1" lang="en-US" sz="2050">
                <a:latin typeface="Calibri"/>
                <a:ea typeface="Calibri"/>
                <a:cs typeface="Calibri"/>
                <a:sym typeface="Calibri"/>
              </a:rPr>
              <a:t>A  ticket  bought  1  day before  departure  (T+1) can cost 300% to 500%</a:t>
            </a:r>
            <a:endParaRPr sz="2050">
              <a:latin typeface="Calibri"/>
              <a:ea typeface="Calibri"/>
              <a:cs typeface="Calibri"/>
              <a:sym typeface="Calibri"/>
            </a:endParaRPr>
          </a:p>
        </p:txBody>
      </p:sp>
      <p:sp>
        <p:nvSpPr>
          <p:cNvPr id="67" name="Google Shape;67;p8"/>
          <p:cNvSpPr txBox="1"/>
          <p:nvPr/>
        </p:nvSpPr>
        <p:spPr>
          <a:xfrm>
            <a:off x="867425" y="7694200"/>
            <a:ext cx="3496200" cy="718200"/>
          </a:xfrm>
          <a:prstGeom prst="rect">
            <a:avLst/>
          </a:prstGeom>
          <a:noFill/>
          <a:ln>
            <a:noFill/>
          </a:ln>
        </p:spPr>
        <p:txBody>
          <a:bodyPr anchorCtr="0" anchor="t" bIns="0" lIns="0" spcFirstLastPara="1" rIns="0" wrap="square" tIns="29825">
            <a:spAutoFit/>
          </a:bodyPr>
          <a:lstStyle/>
          <a:p>
            <a:pPr indent="0" lvl="0" marL="12700" marR="5080" rtl="0" algn="l">
              <a:lnSpc>
                <a:spcPct val="118048"/>
              </a:lnSpc>
              <a:spcBef>
                <a:spcPts val="0"/>
              </a:spcBef>
              <a:spcAft>
                <a:spcPts val="0"/>
              </a:spcAft>
              <a:buNone/>
            </a:pPr>
            <a:r>
              <a:rPr b="1" lang="en-US" sz="2050">
                <a:latin typeface="Calibri"/>
                <a:ea typeface="Calibri"/>
                <a:cs typeface="Calibri"/>
                <a:sym typeface="Calibri"/>
              </a:rPr>
              <a:t>M</a:t>
            </a:r>
            <a:r>
              <a:rPr b="1" lang="en-US" sz="2050">
                <a:latin typeface="Calibri"/>
                <a:ea typeface="Calibri"/>
                <a:cs typeface="Calibri"/>
                <a:sym typeface="Calibri"/>
              </a:rPr>
              <a:t>ore than the exact same	seat bought	30</a:t>
            </a:r>
            <a:endParaRPr sz="2050">
              <a:latin typeface="Calibri"/>
              <a:ea typeface="Calibri"/>
              <a:cs typeface="Calibri"/>
              <a:sym typeface="Calibri"/>
            </a:endParaRPr>
          </a:p>
        </p:txBody>
      </p:sp>
      <p:sp>
        <p:nvSpPr>
          <p:cNvPr id="68" name="Google Shape;68;p8"/>
          <p:cNvSpPr txBox="1"/>
          <p:nvPr/>
        </p:nvSpPr>
        <p:spPr>
          <a:xfrm>
            <a:off x="830525" y="8497100"/>
            <a:ext cx="2886600" cy="3309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050">
                <a:latin typeface="Calibri"/>
                <a:ea typeface="Calibri"/>
                <a:cs typeface="Calibri"/>
                <a:sym typeface="Calibri"/>
              </a:rPr>
              <a:t>days in advance (T+30).</a:t>
            </a:r>
            <a:endParaRPr sz="2050">
              <a:latin typeface="Calibri"/>
              <a:ea typeface="Calibri"/>
              <a:cs typeface="Calibri"/>
              <a:sym typeface="Calibri"/>
            </a:endParaRPr>
          </a:p>
        </p:txBody>
      </p:sp>
      <p:sp>
        <p:nvSpPr>
          <p:cNvPr id="69" name="Google Shape;69;p8"/>
          <p:cNvSpPr txBox="1"/>
          <p:nvPr/>
        </p:nvSpPr>
        <p:spPr>
          <a:xfrm>
            <a:off x="5561125" y="5975851"/>
            <a:ext cx="2995800" cy="2976300"/>
          </a:xfrm>
          <a:prstGeom prst="rect">
            <a:avLst/>
          </a:prstGeom>
          <a:noFill/>
          <a:ln>
            <a:noFill/>
          </a:ln>
        </p:spPr>
        <p:txBody>
          <a:bodyPr anchorCtr="0" anchor="t" bIns="0" lIns="0" spcFirstLastPara="1" rIns="0" wrap="square" tIns="12700">
            <a:spAutoFit/>
          </a:bodyPr>
          <a:lstStyle/>
          <a:p>
            <a:pPr indent="-419734" lvl="0" marL="431800" marR="5080" rtl="0" algn="l">
              <a:lnSpc>
                <a:spcPct val="115599"/>
              </a:lnSpc>
              <a:spcBef>
                <a:spcPts val="0"/>
              </a:spcBef>
              <a:spcAft>
                <a:spcPts val="0"/>
              </a:spcAft>
              <a:buNone/>
            </a:pPr>
            <a:r>
              <a:rPr lang="en-US" sz="2000">
                <a:latin typeface="Arial Black"/>
                <a:ea typeface="Arial Black"/>
                <a:cs typeface="Arial Black"/>
                <a:sym typeface="Arial Black"/>
              </a:rPr>
              <a:t>   </a:t>
            </a:r>
            <a:endParaRPr sz="2000">
              <a:latin typeface="Arial Black"/>
              <a:ea typeface="Arial Black"/>
              <a:cs typeface="Arial Black"/>
              <a:sym typeface="Arial Black"/>
            </a:endParaRPr>
          </a:p>
          <a:p>
            <a:pPr indent="0" lvl="0" marL="117475" marR="251460" rtl="0" algn="ctr">
              <a:lnSpc>
                <a:spcPct val="118421"/>
              </a:lnSpc>
              <a:spcBef>
                <a:spcPts val="1850"/>
              </a:spcBef>
              <a:spcAft>
                <a:spcPts val="0"/>
              </a:spcAft>
              <a:buNone/>
            </a:pPr>
            <a:r>
              <a:rPr b="1" lang="en-US" sz="1900">
                <a:latin typeface="Calibri"/>
                <a:ea typeface="Calibri"/>
                <a:cs typeface="Calibri"/>
                <a:sym typeface="Calibri"/>
              </a:rPr>
              <a:t>NSO traditionally collected static monthly quotes from physical airline offices, missing the full advance-purchase curve and passenger volume distributions.</a:t>
            </a:r>
            <a:endParaRPr sz="1900">
              <a:latin typeface="Calibri"/>
              <a:ea typeface="Calibri"/>
              <a:cs typeface="Calibri"/>
              <a:sym typeface="Calibri"/>
            </a:endParaRPr>
          </a:p>
        </p:txBody>
      </p:sp>
      <p:sp>
        <p:nvSpPr>
          <p:cNvPr id="70" name="Google Shape;70;p8"/>
          <p:cNvSpPr txBox="1"/>
          <p:nvPr/>
        </p:nvSpPr>
        <p:spPr>
          <a:xfrm>
            <a:off x="9425063" y="6701938"/>
            <a:ext cx="3181800" cy="1813800"/>
          </a:xfrm>
          <a:prstGeom prst="rect">
            <a:avLst/>
          </a:prstGeom>
          <a:noFill/>
          <a:ln>
            <a:noFill/>
          </a:ln>
        </p:spPr>
        <p:txBody>
          <a:bodyPr anchorCtr="0" anchor="t" bIns="0" lIns="0" spcFirstLastPara="1" rIns="0" wrap="square" tIns="12700">
            <a:spAutoFit/>
          </a:bodyPr>
          <a:lstStyle/>
          <a:p>
            <a:pPr indent="50165" lvl="0" marL="12700" marR="5080" rtl="0" algn="l">
              <a:lnSpc>
                <a:spcPct val="100000"/>
              </a:lnSpc>
              <a:spcBef>
                <a:spcPts val="0"/>
              </a:spcBef>
              <a:spcAft>
                <a:spcPts val="0"/>
              </a:spcAft>
              <a:buNone/>
            </a:pPr>
            <a:r>
              <a:rPr b="1" lang="en-US" sz="1950">
                <a:latin typeface="Calibri"/>
                <a:ea typeface="Calibri"/>
                <a:cs typeface="Calibri"/>
                <a:sym typeface="Calibri"/>
              </a:rPr>
              <a:t>Flash sales, monsoon disruptions, and severe festival surges (Diwali/Chhath) </a:t>
            </a:r>
            <a:endParaRPr sz="1950">
              <a:latin typeface="Calibri"/>
              <a:ea typeface="Calibri"/>
              <a:cs typeface="Calibri"/>
              <a:sym typeface="Calibri"/>
            </a:endParaRPr>
          </a:p>
          <a:p>
            <a:pPr indent="0" lvl="0" marL="12700" marR="216535" rtl="0" algn="l">
              <a:lnSpc>
                <a:spcPct val="100000"/>
              </a:lnSpc>
              <a:spcBef>
                <a:spcPts val="0"/>
              </a:spcBef>
              <a:spcAft>
                <a:spcPts val="0"/>
              </a:spcAft>
              <a:buNone/>
            </a:pPr>
            <a:r>
              <a:rPr b="1" lang="en-US" sz="1950">
                <a:latin typeface="Calibri"/>
                <a:ea typeface="Calibri"/>
                <a:cs typeface="Calibri"/>
                <a:sym typeface="Calibri"/>
              </a:rPr>
              <a:t>heavily distort raw average calculations without robust statistical filtering.</a:t>
            </a:r>
            <a:endParaRPr sz="1950">
              <a:latin typeface="Calibri"/>
              <a:ea typeface="Calibri"/>
              <a:cs typeface="Calibri"/>
              <a:sym typeface="Calibri"/>
            </a:endParaRPr>
          </a:p>
        </p:txBody>
      </p:sp>
      <p:sp>
        <p:nvSpPr>
          <p:cNvPr id="71" name="Google Shape;71;p8"/>
          <p:cNvSpPr txBox="1"/>
          <p:nvPr/>
        </p:nvSpPr>
        <p:spPr>
          <a:xfrm>
            <a:off x="13426980" y="5813806"/>
            <a:ext cx="3467700" cy="2670000"/>
          </a:xfrm>
          <a:prstGeom prst="rect">
            <a:avLst/>
          </a:prstGeom>
          <a:noFill/>
          <a:ln>
            <a:noFill/>
          </a:ln>
        </p:spPr>
        <p:txBody>
          <a:bodyPr anchorCtr="0" anchor="t" bIns="0" lIns="0" spcFirstLastPara="1" rIns="0" wrap="square" tIns="12700">
            <a:spAutoFit/>
          </a:bodyPr>
          <a:lstStyle/>
          <a:p>
            <a:pPr indent="0" lvl="0" marL="107314" rtl="0" algn="l">
              <a:lnSpc>
                <a:spcPct val="100000"/>
              </a:lnSpc>
              <a:spcBef>
                <a:spcPts val="0"/>
              </a:spcBef>
              <a:spcAft>
                <a:spcPts val="0"/>
              </a:spcAft>
              <a:buNone/>
            </a:pPr>
            <a:r>
              <a:rPr lang="en-US" sz="2500">
                <a:latin typeface="Arial Black"/>
                <a:ea typeface="Arial Black"/>
                <a:cs typeface="Arial Black"/>
                <a:sym typeface="Arial Black"/>
              </a:rPr>
              <a:t>Inter-Ministerial Silos</a:t>
            </a:r>
            <a:endParaRPr sz="2500">
              <a:latin typeface="Arial Black"/>
              <a:ea typeface="Arial Black"/>
              <a:cs typeface="Arial Black"/>
              <a:sym typeface="Arial Black"/>
            </a:endParaRPr>
          </a:p>
          <a:p>
            <a:pPr indent="52069" lvl="0" marL="12700" marR="516255" rtl="0" algn="l">
              <a:lnSpc>
                <a:spcPct val="100699"/>
              </a:lnSpc>
              <a:spcBef>
                <a:spcPts val="1680"/>
              </a:spcBef>
              <a:spcAft>
                <a:spcPts val="0"/>
              </a:spcAft>
              <a:buNone/>
            </a:pPr>
            <a:r>
              <a:rPr b="1" lang="en-US" sz="1800">
                <a:latin typeface="Calibri"/>
                <a:ea typeface="Calibri"/>
                <a:cs typeface="Calibri"/>
                <a:sym typeface="Calibri"/>
              </a:rPr>
              <a:t>Downstream decision-makers (RBI Monetary Policy Committee, MoCA, DGCA) lack</a:t>
            </a:r>
            <a:endParaRPr sz="1800">
              <a:latin typeface="Calibri"/>
              <a:ea typeface="Calibri"/>
              <a:cs typeface="Calibri"/>
              <a:sym typeface="Calibri"/>
            </a:endParaRPr>
          </a:p>
          <a:p>
            <a:pPr indent="0" lvl="0" marL="0" marR="955675" rtl="0" algn="l">
              <a:lnSpc>
                <a:spcPct val="100699"/>
              </a:lnSpc>
              <a:spcBef>
                <a:spcPts val="0"/>
              </a:spcBef>
              <a:spcAft>
                <a:spcPts val="0"/>
              </a:spcAft>
              <a:buNone/>
            </a:pPr>
            <a:r>
              <a:rPr b="1" lang="en-US" sz="1800">
                <a:latin typeface="Calibri"/>
                <a:ea typeface="Calibri"/>
                <a:cs typeface="Calibri"/>
                <a:sym typeface="Calibri"/>
              </a:rPr>
              <a:t>real-time, verifiable, automated statistical data feeds.</a:t>
            </a:r>
            <a:endParaRPr sz="1800">
              <a:latin typeface="Calibri"/>
              <a:ea typeface="Calibri"/>
              <a:cs typeface="Calibri"/>
              <a:sym typeface="Calibri"/>
            </a:endParaRPr>
          </a:p>
        </p:txBody>
      </p:sp>
      <p:sp>
        <p:nvSpPr>
          <p:cNvPr id="72" name="Google Shape;72;p8"/>
          <p:cNvSpPr txBox="1"/>
          <p:nvPr/>
        </p:nvSpPr>
        <p:spPr>
          <a:xfrm>
            <a:off x="2861900" y="3730350"/>
            <a:ext cx="137607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5200">
                <a:latin typeface="Arial Black"/>
                <a:ea typeface="Arial Black"/>
                <a:cs typeface="Arial Black"/>
                <a:sym typeface="Arial Black"/>
              </a:rPr>
              <a:t>CORE INFLATION </a:t>
            </a:r>
            <a:r>
              <a:rPr lang="en-US" sz="5200">
                <a:solidFill>
                  <a:schemeClr val="dk1"/>
                </a:solidFill>
                <a:latin typeface="Arial Black"/>
                <a:ea typeface="Arial Black"/>
                <a:cs typeface="Arial Black"/>
                <a:sym typeface="Arial Black"/>
              </a:rPr>
              <a:t>BLINDSPOT</a:t>
            </a:r>
            <a:endParaRPr sz="5200">
              <a:latin typeface="Arial Black"/>
              <a:ea typeface="Arial Black"/>
              <a:cs typeface="Arial Black"/>
              <a:sym typeface="Arial Black"/>
            </a:endParaRPr>
          </a:p>
        </p:txBody>
      </p:sp>
      <p:sp>
        <p:nvSpPr>
          <p:cNvPr id="73" name="Google Shape;73;p8"/>
          <p:cNvSpPr/>
          <p:nvPr/>
        </p:nvSpPr>
        <p:spPr>
          <a:xfrm>
            <a:off x="1873099" y="4462988"/>
            <a:ext cx="13394674" cy="1137285"/>
          </a:xfrm>
          <a:custGeom>
            <a:rect b="b" l="l" r="r" t="t"/>
            <a:pathLst>
              <a:path extrusionOk="0" h="1137285" w="11801475">
                <a:moveTo>
                  <a:pt x="0" y="902294"/>
                </a:moveTo>
                <a:lnTo>
                  <a:pt x="17412" y="857056"/>
                </a:lnTo>
                <a:lnTo>
                  <a:pt x="38784" y="815911"/>
                </a:lnTo>
                <a:lnTo>
                  <a:pt x="63849" y="778662"/>
                </a:lnTo>
                <a:lnTo>
                  <a:pt x="92337" y="745115"/>
                </a:lnTo>
                <a:lnTo>
                  <a:pt x="123981" y="715072"/>
                </a:lnTo>
                <a:lnTo>
                  <a:pt x="158512" y="688337"/>
                </a:lnTo>
                <a:lnTo>
                  <a:pt x="195661" y="664715"/>
                </a:lnTo>
                <a:lnTo>
                  <a:pt x="235160" y="644010"/>
                </a:lnTo>
                <a:lnTo>
                  <a:pt x="276741" y="626025"/>
                </a:lnTo>
                <a:lnTo>
                  <a:pt x="320136" y="610565"/>
                </a:lnTo>
                <a:lnTo>
                  <a:pt x="365075" y="597432"/>
                </a:lnTo>
                <a:lnTo>
                  <a:pt x="411290" y="586432"/>
                </a:lnTo>
                <a:lnTo>
                  <a:pt x="458514" y="577368"/>
                </a:lnTo>
                <a:lnTo>
                  <a:pt x="506478" y="570044"/>
                </a:lnTo>
                <a:lnTo>
                  <a:pt x="554912" y="564264"/>
                </a:lnTo>
                <a:lnTo>
                  <a:pt x="603550" y="559833"/>
                </a:lnTo>
                <a:lnTo>
                  <a:pt x="652121" y="556552"/>
                </a:lnTo>
                <a:lnTo>
                  <a:pt x="700359" y="554228"/>
                </a:lnTo>
                <a:lnTo>
                  <a:pt x="747995" y="552664"/>
                </a:lnTo>
                <a:lnTo>
                  <a:pt x="794760" y="551663"/>
                </a:lnTo>
                <a:lnTo>
                  <a:pt x="967742" y="549376"/>
                </a:lnTo>
                <a:lnTo>
                  <a:pt x="3960436" y="479448"/>
                </a:lnTo>
                <a:lnTo>
                  <a:pt x="5582224" y="429383"/>
                </a:lnTo>
                <a:lnTo>
                  <a:pt x="5605041" y="384061"/>
                </a:lnTo>
                <a:lnTo>
                  <a:pt x="5787575" y="27057"/>
                </a:lnTo>
                <a:lnTo>
                  <a:pt x="5817927" y="735"/>
                </a:lnTo>
                <a:lnTo>
                  <a:pt x="5856910" y="0"/>
                </a:lnTo>
                <a:lnTo>
                  <a:pt x="5890139" y="20439"/>
                </a:lnTo>
                <a:lnTo>
                  <a:pt x="5903231" y="57643"/>
                </a:lnTo>
                <a:lnTo>
                  <a:pt x="5903789" y="105727"/>
                </a:lnTo>
                <a:lnTo>
                  <a:pt x="5910804" y="152357"/>
                </a:lnTo>
                <a:lnTo>
                  <a:pt x="5923795" y="197208"/>
                </a:lnTo>
                <a:lnTo>
                  <a:pt x="5942281" y="239956"/>
                </a:lnTo>
                <a:lnTo>
                  <a:pt x="5965781" y="280275"/>
                </a:lnTo>
                <a:lnTo>
                  <a:pt x="5993812" y="317842"/>
                </a:lnTo>
                <a:lnTo>
                  <a:pt x="6025894" y="352332"/>
                </a:lnTo>
                <a:lnTo>
                  <a:pt x="6061545" y="383419"/>
                </a:lnTo>
                <a:lnTo>
                  <a:pt x="6100283" y="410780"/>
                </a:lnTo>
                <a:lnTo>
                  <a:pt x="6141627" y="434089"/>
                </a:lnTo>
                <a:lnTo>
                  <a:pt x="6189291" y="455153"/>
                </a:lnTo>
                <a:lnTo>
                  <a:pt x="6238180" y="472398"/>
                </a:lnTo>
                <a:lnTo>
                  <a:pt x="6288110" y="486207"/>
                </a:lnTo>
                <a:lnTo>
                  <a:pt x="6338903" y="496962"/>
                </a:lnTo>
                <a:lnTo>
                  <a:pt x="6390377" y="505044"/>
                </a:lnTo>
                <a:lnTo>
                  <a:pt x="6442351" y="510835"/>
                </a:lnTo>
                <a:lnTo>
                  <a:pt x="6494644" y="514717"/>
                </a:lnTo>
                <a:lnTo>
                  <a:pt x="6547075" y="517071"/>
                </a:lnTo>
                <a:lnTo>
                  <a:pt x="6599464" y="518280"/>
                </a:lnTo>
                <a:lnTo>
                  <a:pt x="6651629" y="518726"/>
                </a:lnTo>
                <a:lnTo>
                  <a:pt x="10883568" y="523495"/>
                </a:lnTo>
                <a:lnTo>
                  <a:pt x="11087842" y="521763"/>
                </a:lnTo>
                <a:lnTo>
                  <a:pt x="11139370" y="522319"/>
                </a:lnTo>
                <a:lnTo>
                  <a:pt x="11190828" y="524003"/>
                </a:lnTo>
                <a:lnTo>
                  <a:pt x="11242088" y="527184"/>
                </a:lnTo>
                <a:lnTo>
                  <a:pt x="11293022" y="532229"/>
                </a:lnTo>
                <a:lnTo>
                  <a:pt x="11343503" y="539503"/>
                </a:lnTo>
                <a:lnTo>
                  <a:pt x="11393403" y="549376"/>
                </a:lnTo>
                <a:lnTo>
                  <a:pt x="11439574" y="561611"/>
                </a:lnTo>
                <a:lnTo>
                  <a:pt x="11484948" y="576499"/>
                </a:lnTo>
                <a:lnTo>
                  <a:pt x="11529079" y="594253"/>
                </a:lnTo>
                <a:lnTo>
                  <a:pt x="11571520" y="615086"/>
                </a:lnTo>
                <a:lnTo>
                  <a:pt x="11611824" y="639211"/>
                </a:lnTo>
                <a:lnTo>
                  <a:pt x="11649544" y="666841"/>
                </a:lnTo>
                <a:lnTo>
                  <a:pt x="11684234" y="698189"/>
                </a:lnTo>
                <a:lnTo>
                  <a:pt x="11715446" y="733468"/>
                </a:lnTo>
                <a:lnTo>
                  <a:pt x="11742735" y="772891"/>
                </a:lnTo>
                <a:lnTo>
                  <a:pt x="11764549" y="815071"/>
                </a:lnTo>
                <a:lnTo>
                  <a:pt x="11781828" y="858437"/>
                </a:lnTo>
                <a:lnTo>
                  <a:pt x="11794017" y="902629"/>
                </a:lnTo>
                <a:lnTo>
                  <a:pt x="11800563" y="947291"/>
                </a:lnTo>
                <a:lnTo>
                  <a:pt x="11800913" y="992063"/>
                </a:lnTo>
                <a:lnTo>
                  <a:pt x="11794515" y="1036587"/>
                </a:lnTo>
                <a:lnTo>
                  <a:pt x="11780814" y="1080504"/>
                </a:lnTo>
                <a:lnTo>
                  <a:pt x="11759257" y="1123456"/>
                </a:lnTo>
                <a:lnTo>
                  <a:pt x="11740005" y="1137242"/>
                </a:lnTo>
                <a:lnTo>
                  <a:pt x="11716771" y="1134926"/>
                </a:lnTo>
                <a:lnTo>
                  <a:pt x="11698847" y="1119817"/>
                </a:lnTo>
                <a:lnTo>
                  <a:pt x="11695528" y="1095223"/>
                </a:lnTo>
                <a:lnTo>
                  <a:pt x="11709782" y="1052148"/>
                </a:lnTo>
                <a:lnTo>
                  <a:pt x="11716091" y="1008113"/>
                </a:lnTo>
                <a:lnTo>
                  <a:pt x="11715008" y="963852"/>
                </a:lnTo>
                <a:lnTo>
                  <a:pt x="11707084" y="920100"/>
                </a:lnTo>
                <a:lnTo>
                  <a:pt x="11692872" y="877590"/>
                </a:lnTo>
                <a:lnTo>
                  <a:pt x="11672925" y="837056"/>
                </a:lnTo>
                <a:lnTo>
                  <a:pt x="11647794" y="799233"/>
                </a:lnTo>
                <a:lnTo>
                  <a:pt x="11618033" y="764854"/>
                </a:lnTo>
                <a:lnTo>
                  <a:pt x="11584192" y="734653"/>
                </a:lnTo>
                <a:lnTo>
                  <a:pt x="11546826" y="709365"/>
                </a:lnTo>
                <a:lnTo>
                  <a:pt x="11500563" y="685136"/>
                </a:lnTo>
                <a:lnTo>
                  <a:pt x="11452601" y="665735"/>
                </a:lnTo>
                <a:lnTo>
                  <a:pt x="11403222" y="650626"/>
                </a:lnTo>
                <a:lnTo>
                  <a:pt x="11352711" y="639271"/>
                </a:lnTo>
                <a:lnTo>
                  <a:pt x="11301349" y="631135"/>
                </a:lnTo>
                <a:lnTo>
                  <a:pt x="11249422" y="625681"/>
                </a:lnTo>
                <a:lnTo>
                  <a:pt x="11197211" y="622373"/>
                </a:lnTo>
                <a:lnTo>
                  <a:pt x="11145000" y="620675"/>
                </a:lnTo>
                <a:lnTo>
                  <a:pt x="11093072" y="620049"/>
                </a:lnTo>
                <a:lnTo>
                  <a:pt x="6911101" y="617607"/>
                </a:lnTo>
                <a:lnTo>
                  <a:pt x="6663708" y="619463"/>
                </a:lnTo>
                <a:lnTo>
                  <a:pt x="6614463" y="619134"/>
                </a:lnTo>
                <a:lnTo>
                  <a:pt x="6565346" y="618126"/>
                </a:lnTo>
                <a:lnTo>
                  <a:pt x="6516378" y="616249"/>
                </a:lnTo>
                <a:lnTo>
                  <a:pt x="6467581" y="613311"/>
                </a:lnTo>
                <a:lnTo>
                  <a:pt x="6418974" y="609122"/>
                </a:lnTo>
                <a:lnTo>
                  <a:pt x="6370581" y="603490"/>
                </a:lnTo>
                <a:lnTo>
                  <a:pt x="6323143" y="595567"/>
                </a:lnTo>
                <a:lnTo>
                  <a:pt x="6275183" y="584908"/>
                </a:lnTo>
                <a:lnTo>
                  <a:pt x="6227120" y="571511"/>
                </a:lnTo>
                <a:lnTo>
                  <a:pt x="6179372" y="555378"/>
                </a:lnTo>
                <a:lnTo>
                  <a:pt x="6132357" y="536507"/>
                </a:lnTo>
                <a:lnTo>
                  <a:pt x="6086493" y="514900"/>
                </a:lnTo>
                <a:lnTo>
                  <a:pt x="6042198" y="490556"/>
                </a:lnTo>
                <a:lnTo>
                  <a:pt x="5999889" y="463475"/>
                </a:lnTo>
                <a:lnTo>
                  <a:pt x="5959986" y="433657"/>
                </a:lnTo>
                <a:lnTo>
                  <a:pt x="5922906" y="401102"/>
                </a:lnTo>
                <a:lnTo>
                  <a:pt x="5889067" y="365810"/>
                </a:lnTo>
                <a:lnTo>
                  <a:pt x="5858888" y="327781"/>
                </a:lnTo>
                <a:lnTo>
                  <a:pt x="5832785" y="287016"/>
                </a:lnTo>
                <a:lnTo>
                  <a:pt x="5811178" y="243513"/>
                </a:lnTo>
                <a:lnTo>
                  <a:pt x="5787575" y="289207"/>
                </a:lnTo>
                <a:lnTo>
                  <a:pt x="5669557" y="514084"/>
                </a:lnTo>
                <a:lnTo>
                  <a:pt x="5633045" y="541545"/>
                </a:lnTo>
                <a:lnTo>
                  <a:pt x="4842648" y="558613"/>
                </a:lnTo>
                <a:lnTo>
                  <a:pt x="689462" y="663927"/>
                </a:lnTo>
                <a:lnTo>
                  <a:pt x="643531" y="666317"/>
                </a:lnTo>
                <a:lnTo>
                  <a:pt x="596667" y="669754"/>
                </a:lnTo>
                <a:lnTo>
                  <a:pt x="549260" y="674515"/>
                </a:lnTo>
                <a:lnTo>
                  <a:pt x="501701" y="680875"/>
                </a:lnTo>
                <a:lnTo>
                  <a:pt x="454380" y="689109"/>
                </a:lnTo>
                <a:lnTo>
                  <a:pt x="407689" y="699495"/>
                </a:lnTo>
                <a:lnTo>
                  <a:pt x="362018" y="712306"/>
                </a:lnTo>
                <a:lnTo>
                  <a:pt x="317757" y="727820"/>
                </a:lnTo>
                <a:lnTo>
                  <a:pt x="275298" y="746311"/>
                </a:lnTo>
                <a:lnTo>
                  <a:pt x="235031" y="768056"/>
                </a:lnTo>
                <a:lnTo>
                  <a:pt x="197346" y="793330"/>
                </a:lnTo>
                <a:lnTo>
                  <a:pt x="162636" y="822409"/>
                </a:lnTo>
                <a:lnTo>
                  <a:pt x="131289" y="855569"/>
                </a:lnTo>
                <a:lnTo>
                  <a:pt x="103697" y="893085"/>
                </a:lnTo>
                <a:lnTo>
                  <a:pt x="80251" y="935233"/>
                </a:lnTo>
                <a:lnTo>
                  <a:pt x="56758" y="956555"/>
                </a:lnTo>
                <a:lnTo>
                  <a:pt x="26848" y="954055"/>
                </a:lnTo>
                <a:lnTo>
                  <a:pt x="3577" y="933910"/>
                </a:lnTo>
                <a:lnTo>
                  <a:pt x="0" y="902294"/>
                </a:lnTo>
                <a:close/>
              </a:path>
            </a:pathLst>
          </a:custGeom>
          <a:solidFill>
            <a:srgbClr val="333C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 name="Google Shape;74;p8"/>
          <p:cNvSpPr txBox="1"/>
          <p:nvPr/>
        </p:nvSpPr>
        <p:spPr>
          <a:xfrm>
            <a:off x="694328" y="5569618"/>
            <a:ext cx="38424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600">
                <a:latin typeface="Arial Black"/>
                <a:ea typeface="Arial Black"/>
                <a:cs typeface="Arial Black"/>
                <a:sym typeface="Arial Black"/>
              </a:rPr>
              <a:t>Extreme Price Elasticity</a:t>
            </a:r>
            <a:endParaRPr sz="2600">
              <a:latin typeface="Arial Black"/>
              <a:ea typeface="Arial Black"/>
              <a:cs typeface="Arial Black"/>
              <a:sym typeface="Arial Black"/>
            </a:endParaRPr>
          </a:p>
        </p:txBody>
      </p:sp>
      <p:sp>
        <p:nvSpPr>
          <p:cNvPr id="75" name="Google Shape;75;p8"/>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76" name="Google Shape;76;p8"/>
          <p:cNvSpPr txBox="1"/>
          <p:nvPr>
            <p:ph idx="11" type="ftr"/>
          </p:nvPr>
        </p:nvSpPr>
        <p:spPr>
          <a:xfrm>
            <a:off x="261619" y="9973500"/>
            <a:ext cx="2287800" cy="428400"/>
          </a:xfrm>
          <a:prstGeom prst="rect">
            <a:avLst/>
          </a:prstGeom>
          <a:noFill/>
          <a:ln>
            <a:noFill/>
          </a:ln>
        </p:spPr>
        <p:txBody>
          <a:bodyPr anchorCtr="0" anchor="t" bIns="0" lIns="0" spcFirstLastPara="1" rIns="0" wrap="square" tIns="0">
            <a:spAutoFit/>
          </a:bodyPr>
          <a:lstStyle/>
          <a:p>
            <a:pPr indent="0" lvl="0" marL="12700" rtl="0" algn="l">
              <a:lnSpc>
                <a:spcPct val="106153"/>
              </a:lnSpc>
              <a:spcBef>
                <a:spcPts val="0"/>
              </a:spcBef>
              <a:spcAft>
                <a:spcPts val="0"/>
              </a:spcAft>
              <a:buClr>
                <a:schemeClr val="dk1"/>
              </a:buClr>
              <a:buFont typeface="Arial"/>
              <a:buNone/>
            </a:pPr>
            <a:r>
              <a:rPr lang="en-US"/>
              <a:t>404 FOUND</a:t>
            </a:r>
            <a:endParaRPr/>
          </a:p>
          <a:p>
            <a:pPr indent="0" lvl="0" marL="12700" rtl="0" algn="l">
              <a:lnSpc>
                <a:spcPct val="106153"/>
              </a:lnSpc>
              <a:spcBef>
                <a:spcPts val="0"/>
              </a:spcBef>
              <a:spcAft>
                <a:spcPts val="0"/>
              </a:spcAft>
              <a:buNone/>
            </a:pPr>
            <a:r>
              <a:t/>
            </a:r>
            <a:endParaRPr/>
          </a:p>
        </p:txBody>
      </p:sp>
      <p:sp>
        <p:nvSpPr>
          <p:cNvPr id="77" name="Google Shape;77;p8"/>
          <p:cNvSpPr txBox="1"/>
          <p:nvPr/>
        </p:nvSpPr>
        <p:spPr>
          <a:xfrm>
            <a:off x="9186163" y="5815925"/>
            <a:ext cx="38475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Arial Black"/>
                <a:ea typeface="Arial Black"/>
                <a:cs typeface="Arial Black"/>
                <a:sym typeface="Arial Black"/>
              </a:rPr>
              <a:t>Noise &amp; Outlier Pollution</a:t>
            </a:r>
            <a:endParaRPr sz="2000">
              <a:latin typeface="Arial Black"/>
              <a:ea typeface="Arial Black"/>
              <a:cs typeface="Arial Black"/>
              <a:sym typeface="Arial Black"/>
            </a:endParaRPr>
          </a:p>
        </p:txBody>
      </p:sp>
      <p:pic>
        <p:nvPicPr>
          <p:cNvPr id="78" name="Google Shape;78;p8"/>
          <p:cNvPicPr preferRelativeResize="0"/>
          <p:nvPr/>
        </p:nvPicPr>
        <p:blipFill>
          <a:blip r:embed="rId4">
            <a:alphaModFix/>
          </a:blip>
          <a:stretch>
            <a:fillRect/>
          </a:stretch>
        </p:blipFill>
        <p:spPr>
          <a:xfrm>
            <a:off x="15830500" y="94663"/>
            <a:ext cx="2038299" cy="1235625"/>
          </a:xfrm>
          <a:prstGeom prst="rect">
            <a:avLst/>
          </a:prstGeom>
          <a:noFill/>
          <a:ln>
            <a:noFill/>
          </a:ln>
        </p:spPr>
      </p:pic>
      <p:pic>
        <p:nvPicPr>
          <p:cNvPr id="79" name="Google Shape;79;p8"/>
          <p:cNvPicPr preferRelativeResize="0"/>
          <p:nvPr/>
        </p:nvPicPr>
        <p:blipFill>
          <a:blip r:embed="rId5">
            <a:alphaModFix/>
          </a:blip>
          <a:stretch>
            <a:fillRect/>
          </a:stretch>
        </p:blipFill>
        <p:spPr>
          <a:xfrm>
            <a:off x="744146" y="365559"/>
            <a:ext cx="1254863" cy="718200"/>
          </a:xfrm>
          <a:prstGeom prst="rect">
            <a:avLst/>
          </a:prstGeom>
          <a:noFill/>
          <a:ln>
            <a:noFill/>
          </a:ln>
        </p:spPr>
      </p:pic>
      <p:sp>
        <p:nvSpPr>
          <p:cNvPr id="80" name="Google Shape;80;p8"/>
          <p:cNvSpPr txBox="1"/>
          <p:nvPr/>
        </p:nvSpPr>
        <p:spPr>
          <a:xfrm>
            <a:off x="5325175" y="5569625"/>
            <a:ext cx="3467700" cy="8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chemeClr val="dk1"/>
                </a:solidFill>
                <a:latin typeface="Arial Black"/>
                <a:ea typeface="Arial Black"/>
                <a:cs typeface="Arial Black"/>
                <a:sym typeface="Arial Black"/>
              </a:rPr>
              <a:t>Outdated Manual Point-in time Sampling</a:t>
            </a:r>
            <a:endParaRPr b="1" sz="2100">
              <a:solidFill>
                <a:schemeClr val="dk1"/>
              </a:solidFill>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9"/>
          <p:cNvSpPr txBox="1"/>
          <p:nvPr/>
        </p:nvSpPr>
        <p:spPr>
          <a:xfrm>
            <a:off x="1027013" y="471169"/>
            <a:ext cx="689100" cy="4746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500">
                <a:solidFill>
                  <a:srgbClr val="404040"/>
                </a:solidFill>
                <a:latin typeface="Calibri"/>
                <a:ea typeface="Calibri"/>
                <a:cs typeface="Calibri"/>
                <a:sym typeface="Calibri"/>
              </a:rPr>
              <a:t>Error 404</a:t>
            </a:r>
            <a:endParaRPr sz="1500">
              <a:latin typeface="Calibri"/>
              <a:ea typeface="Calibri"/>
              <a:cs typeface="Calibri"/>
              <a:sym typeface="Calibri"/>
            </a:endParaRPr>
          </a:p>
        </p:txBody>
      </p:sp>
      <p:sp>
        <p:nvSpPr>
          <p:cNvPr descr="$PPTXTitle" id="86" name="Google Shape;86;p9"/>
          <p:cNvSpPr txBox="1"/>
          <p:nvPr>
            <p:ph type="title"/>
          </p:nvPr>
        </p:nvSpPr>
        <p:spPr>
          <a:xfrm>
            <a:off x="5564097" y="460502"/>
            <a:ext cx="6885305" cy="528319"/>
          </a:xfrm>
          <a:prstGeom prst="rect">
            <a:avLst/>
          </a:prstGeom>
          <a:noFill/>
          <a:ln>
            <a:noFill/>
          </a:ln>
        </p:spPr>
        <p:txBody>
          <a:bodyPr anchorCtr="0" anchor="t" bIns="0" lIns="0" spcFirstLastPara="1" rIns="0" wrap="square" tIns="12700">
            <a:spAutoFit/>
          </a:bodyPr>
          <a:lstStyle/>
          <a:p>
            <a:pPr indent="0" lvl="0" marL="739775" rtl="0" algn="l">
              <a:lnSpc>
                <a:spcPct val="100000"/>
              </a:lnSpc>
              <a:spcBef>
                <a:spcPts val="0"/>
              </a:spcBef>
              <a:spcAft>
                <a:spcPts val="0"/>
              </a:spcAft>
              <a:buNone/>
            </a:pPr>
            <a:r>
              <a:rPr lang="en-US"/>
              <a:t>TECHNICAL APPROACH</a:t>
            </a:r>
            <a:endParaRPr/>
          </a:p>
        </p:txBody>
      </p:sp>
      <p:sp>
        <p:nvSpPr>
          <p:cNvPr id="87" name="Google Shape;87;p9"/>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 name="Google Shape;88;p9"/>
          <p:cNvSpPr txBox="1"/>
          <p:nvPr/>
        </p:nvSpPr>
        <p:spPr>
          <a:xfrm>
            <a:off x="274319" y="9957625"/>
            <a:ext cx="17739300" cy="417600"/>
          </a:xfrm>
          <a:prstGeom prst="rect">
            <a:avLst/>
          </a:prstGeom>
          <a:noFill/>
          <a:ln>
            <a:noFill/>
          </a:ln>
        </p:spPr>
        <p:txBody>
          <a:bodyPr anchorCtr="0" anchor="t" bIns="0" lIns="0" spcFirstLastPara="1" rIns="0" wrap="square" tIns="0">
            <a:spAutoFit/>
          </a:bodyPr>
          <a:lstStyle/>
          <a:p>
            <a:pPr indent="0" lvl="0" marL="12700" rtl="0" algn="l">
              <a:lnSpc>
                <a:spcPct val="106153"/>
              </a:lnSpc>
              <a:spcBef>
                <a:spcPts val="0"/>
              </a:spcBef>
              <a:spcAft>
                <a:spcPts val="0"/>
              </a:spcAft>
              <a:buClr>
                <a:schemeClr val="dk1"/>
              </a:buClr>
              <a:buFont typeface="Arial"/>
              <a:buNone/>
            </a:pPr>
            <a:r>
              <a:rPr lang="en-US" sz="1350">
                <a:solidFill>
                  <a:schemeClr val="lt1"/>
                </a:solidFill>
                <a:latin typeface="Calibri"/>
                <a:ea typeface="Calibri"/>
                <a:cs typeface="Calibri"/>
                <a:sym typeface="Calibri"/>
              </a:rPr>
              <a:t>404 FOUND</a:t>
            </a:r>
            <a:endParaRPr sz="1350">
              <a:solidFill>
                <a:schemeClr val="lt1"/>
              </a:solidFill>
              <a:latin typeface="Calibri"/>
              <a:ea typeface="Calibri"/>
              <a:cs typeface="Calibri"/>
              <a:sym typeface="Calibri"/>
            </a:endParaRPr>
          </a:p>
          <a:p>
            <a:pPr indent="0" lvl="0" marL="0" rtl="0" algn="l">
              <a:lnSpc>
                <a:spcPct val="94848"/>
              </a:lnSpc>
              <a:spcBef>
                <a:spcPts val="0"/>
              </a:spcBef>
              <a:spcAft>
                <a:spcPts val="0"/>
              </a:spcAft>
              <a:buNone/>
            </a:pPr>
            <a:r>
              <a:t/>
            </a:r>
            <a:endParaRPr sz="1350">
              <a:solidFill>
                <a:srgbClr val="FFFFFF"/>
              </a:solidFill>
              <a:latin typeface="Calibri"/>
              <a:ea typeface="Calibri"/>
              <a:cs typeface="Calibri"/>
              <a:sym typeface="Calibri"/>
            </a:endParaRPr>
          </a:p>
        </p:txBody>
      </p:sp>
      <p:sp>
        <p:nvSpPr>
          <p:cNvPr id="89" name="Google Shape;89;p9"/>
          <p:cNvSpPr txBox="1"/>
          <p:nvPr/>
        </p:nvSpPr>
        <p:spPr>
          <a:xfrm>
            <a:off x="673099" y="1397000"/>
            <a:ext cx="1196975"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100">
                <a:solidFill>
                  <a:srgbClr val="1F3764"/>
                </a:solidFill>
                <a:latin typeface="Calibri"/>
                <a:ea typeface="Calibri"/>
                <a:cs typeface="Calibri"/>
                <a:sym typeface="Calibri"/>
              </a:rPr>
              <a:t>Tech Stack</a:t>
            </a:r>
            <a:endParaRPr sz="2100">
              <a:latin typeface="Calibri"/>
              <a:ea typeface="Calibri"/>
              <a:cs typeface="Calibri"/>
              <a:sym typeface="Calibri"/>
            </a:endParaRPr>
          </a:p>
        </p:txBody>
      </p:sp>
      <p:sp>
        <p:nvSpPr>
          <p:cNvPr id="90" name="Google Shape;90;p9"/>
          <p:cNvSpPr/>
          <p:nvPr/>
        </p:nvSpPr>
        <p:spPr>
          <a:xfrm>
            <a:off x="685800" y="1947672"/>
            <a:ext cx="2832735" cy="548640"/>
          </a:xfrm>
          <a:custGeom>
            <a:rect b="b" l="l" r="r" t="t"/>
            <a:pathLst>
              <a:path extrusionOk="0" h="548639" w="2832735">
                <a:moveTo>
                  <a:pt x="2750057"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2750057" y="0"/>
                </a:lnTo>
                <a:lnTo>
                  <a:pt x="2782084" y="6469"/>
                </a:lnTo>
                <a:lnTo>
                  <a:pt x="2808243" y="24110"/>
                </a:lnTo>
                <a:lnTo>
                  <a:pt x="2825884" y="50269"/>
                </a:lnTo>
                <a:lnTo>
                  <a:pt x="2832353" y="82295"/>
                </a:lnTo>
                <a:lnTo>
                  <a:pt x="2832353" y="466343"/>
                </a:lnTo>
                <a:lnTo>
                  <a:pt x="2825884" y="498370"/>
                </a:lnTo>
                <a:lnTo>
                  <a:pt x="2808243" y="524529"/>
                </a:lnTo>
                <a:lnTo>
                  <a:pt x="2782084" y="542170"/>
                </a:lnTo>
                <a:lnTo>
                  <a:pt x="2750057" y="548639"/>
                </a:lnTo>
                <a:close/>
              </a:path>
            </a:pathLst>
          </a:custGeom>
          <a:solidFill>
            <a:srgbClr val="DDEBF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9"/>
          <p:cNvSpPr txBox="1"/>
          <p:nvPr/>
        </p:nvSpPr>
        <p:spPr>
          <a:xfrm>
            <a:off x="1283890" y="2068321"/>
            <a:ext cx="1636500" cy="2427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React 19 + TypeScript</a:t>
            </a:r>
            <a:endParaRPr sz="1400">
              <a:latin typeface="Calibri"/>
              <a:ea typeface="Calibri"/>
              <a:cs typeface="Calibri"/>
              <a:sym typeface="Calibri"/>
            </a:endParaRPr>
          </a:p>
        </p:txBody>
      </p:sp>
      <p:sp>
        <p:nvSpPr>
          <p:cNvPr id="92" name="Google Shape;92;p9"/>
          <p:cNvSpPr/>
          <p:nvPr/>
        </p:nvSpPr>
        <p:spPr>
          <a:xfrm>
            <a:off x="3723893" y="1947672"/>
            <a:ext cx="1083945" cy="548640"/>
          </a:xfrm>
          <a:custGeom>
            <a:rect b="b" l="l" r="r" t="t"/>
            <a:pathLst>
              <a:path extrusionOk="0" h="548639" w="1083945">
                <a:moveTo>
                  <a:pt x="1001267"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1001267" y="0"/>
                </a:lnTo>
                <a:lnTo>
                  <a:pt x="1033294" y="6469"/>
                </a:lnTo>
                <a:lnTo>
                  <a:pt x="1059453" y="24110"/>
                </a:lnTo>
                <a:lnTo>
                  <a:pt x="1077094" y="50269"/>
                </a:lnTo>
                <a:lnTo>
                  <a:pt x="1083563" y="82295"/>
                </a:lnTo>
                <a:lnTo>
                  <a:pt x="1083563" y="466343"/>
                </a:lnTo>
                <a:lnTo>
                  <a:pt x="1077094" y="498370"/>
                </a:lnTo>
                <a:lnTo>
                  <a:pt x="1059453" y="524529"/>
                </a:lnTo>
                <a:lnTo>
                  <a:pt x="1033294" y="542170"/>
                </a:lnTo>
                <a:lnTo>
                  <a:pt x="1001267" y="548639"/>
                </a:lnTo>
                <a:close/>
              </a:path>
            </a:pathLst>
          </a:custGeom>
          <a:solidFill>
            <a:srgbClr val="FFF1E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 name="Google Shape;93;p9"/>
          <p:cNvSpPr txBox="1"/>
          <p:nvPr/>
        </p:nvSpPr>
        <p:spPr>
          <a:xfrm>
            <a:off x="4033853" y="2068321"/>
            <a:ext cx="463550" cy="2425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Vite 8</a:t>
            </a:r>
            <a:endParaRPr sz="1400">
              <a:latin typeface="Calibri"/>
              <a:ea typeface="Calibri"/>
              <a:cs typeface="Calibri"/>
              <a:sym typeface="Calibri"/>
            </a:endParaRPr>
          </a:p>
        </p:txBody>
      </p:sp>
      <p:sp>
        <p:nvSpPr>
          <p:cNvPr id="94" name="Google Shape;94;p9"/>
          <p:cNvSpPr/>
          <p:nvPr/>
        </p:nvSpPr>
        <p:spPr>
          <a:xfrm>
            <a:off x="5013197" y="1947672"/>
            <a:ext cx="2249805" cy="548640"/>
          </a:xfrm>
          <a:custGeom>
            <a:rect b="b" l="l" r="r" t="t"/>
            <a:pathLst>
              <a:path extrusionOk="0" h="548639" w="2249804">
                <a:moveTo>
                  <a:pt x="2167127"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2167127" y="0"/>
                </a:lnTo>
                <a:lnTo>
                  <a:pt x="2199154" y="6469"/>
                </a:lnTo>
                <a:lnTo>
                  <a:pt x="2225313" y="24110"/>
                </a:lnTo>
                <a:lnTo>
                  <a:pt x="2242954" y="50269"/>
                </a:lnTo>
                <a:lnTo>
                  <a:pt x="2249423" y="82295"/>
                </a:lnTo>
                <a:lnTo>
                  <a:pt x="2249423" y="466343"/>
                </a:lnTo>
                <a:lnTo>
                  <a:pt x="2242954" y="498370"/>
                </a:lnTo>
                <a:lnTo>
                  <a:pt x="2225313" y="524529"/>
                </a:lnTo>
                <a:lnTo>
                  <a:pt x="2199154" y="542170"/>
                </a:lnTo>
                <a:lnTo>
                  <a:pt x="2167127" y="548639"/>
                </a:lnTo>
                <a:close/>
              </a:path>
            </a:pathLst>
          </a:custGeom>
          <a:solidFill>
            <a:srgbClr val="DDEBF6"/>
          </a:solidFill>
          <a:ln>
            <a:noFill/>
          </a:ln>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r>
              <a:t/>
            </a:r>
            <a:endParaRPr/>
          </a:p>
        </p:txBody>
      </p:sp>
      <p:sp>
        <p:nvSpPr>
          <p:cNvPr id="95" name="Google Shape;95;p9"/>
          <p:cNvSpPr/>
          <p:nvPr/>
        </p:nvSpPr>
        <p:spPr>
          <a:xfrm>
            <a:off x="7468361" y="1947672"/>
            <a:ext cx="1550035" cy="548640"/>
          </a:xfrm>
          <a:custGeom>
            <a:rect b="b" l="l" r="r" t="t"/>
            <a:pathLst>
              <a:path extrusionOk="0" h="548639" w="1550034">
                <a:moveTo>
                  <a:pt x="1467612" y="548639"/>
                </a:moveTo>
                <a:lnTo>
                  <a:pt x="82296" y="548639"/>
                </a:lnTo>
                <a:lnTo>
                  <a:pt x="50269" y="542170"/>
                </a:lnTo>
                <a:lnTo>
                  <a:pt x="24110" y="524529"/>
                </a:lnTo>
                <a:lnTo>
                  <a:pt x="6469" y="498370"/>
                </a:lnTo>
                <a:lnTo>
                  <a:pt x="0" y="466344"/>
                </a:lnTo>
                <a:lnTo>
                  <a:pt x="0" y="82296"/>
                </a:lnTo>
                <a:lnTo>
                  <a:pt x="24110" y="24110"/>
                </a:lnTo>
                <a:lnTo>
                  <a:pt x="82296" y="0"/>
                </a:lnTo>
                <a:lnTo>
                  <a:pt x="1467612" y="0"/>
                </a:lnTo>
                <a:lnTo>
                  <a:pt x="1499638" y="6469"/>
                </a:lnTo>
                <a:lnTo>
                  <a:pt x="1525797" y="24110"/>
                </a:lnTo>
                <a:lnTo>
                  <a:pt x="1543438" y="50269"/>
                </a:lnTo>
                <a:lnTo>
                  <a:pt x="1549479" y="80173"/>
                </a:lnTo>
                <a:lnTo>
                  <a:pt x="1549479" y="468466"/>
                </a:lnTo>
                <a:lnTo>
                  <a:pt x="1543438" y="498370"/>
                </a:lnTo>
                <a:lnTo>
                  <a:pt x="1525797" y="524529"/>
                </a:lnTo>
                <a:lnTo>
                  <a:pt x="1499638" y="542170"/>
                </a:lnTo>
                <a:lnTo>
                  <a:pt x="1467612" y="548639"/>
                </a:lnTo>
                <a:close/>
              </a:path>
            </a:pathLst>
          </a:custGeom>
          <a:solidFill>
            <a:srgbClr val="FFF1E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 name="Google Shape;96;p9"/>
          <p:cNvSpPr txBox="1"/>
          <p:nvPr/>
        </p:nvSpPr>
        <p:spPr>
          <a:xfrm>
            <a:off x="5499369" y="2068321"/>
            <a:ext cx="3159900" cy="2316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FastAPI (Python)</a:t>
            </a:r>
            <a:r>
              <a:rPr b="1" lang="en-US" sz="1400">
                <a:solidFill>
                  <a:srgbClr val="404040"/>
                </a:solidFill>
                <a:latin typeface="Calibri"/>
                <a:ea typeface="Calibri"/>
                <a:cs typeface="Calibri"/>
                <a:sym typeface="Calibri"/>
              </a:rPr>
              <a:t>	                    Playwright</a:t>
            </a:r>
            <a:endParaRPr sz="1400">
              <a:latin typeface="Calibri"/>
              <a:ea typeface="Calibri"/>
              <a:cs typeface="Calibri"/>
              <a:sym typeface="Calibri"/>
            </a:endParaRPr>
          </a:p>
        </p:txBody>
      </p:sp>
      <p:sp>
        <p:nvSpPr>
          <p:cNvPr id="97" name="Google Shape;97;p9"/>
          <p:cNvSpPr/>
          <p:nvPr/>
        </p:nvSpPr>
        <p:spPr>
          <a:xfrm>
            <a:off x="685800" y="2633472"/>
            <a:ext cx="1083945" cy="548640"/>
          </a:xfrm>
          <a:custGeom>
            <a:rect b="b" l="l" r="r" t="t"/>
            <a:pathLst>
              <a:path extrusionOk="0" h="548639" w="1083945">
                <a:moveTo>
                  <a:pt x="1001267"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1001267" y="0"/>
                </a:lnTo>
                <a:lnTo>
                  <a:pt x="1033294" y="6469"/>
                </a:lnTo>
                <a:lnTo>
                  <a:pt x="1059453" y="24110"/>
                </a:lnTo>
                <a:lnTo>
                  <a:pt x="1077094" y="50269"/>
                </a:lnTo>
                <a:lnTo>
                  <a:pt x="1083563" y="82295"/>
                </a:lnTo>
                <a:lnTo>
                  <a:pt x="1083563" y="466343"/>
                </a:lnTo>
                <a:lnTo>
                  <a:pt x="1077094" y="498370"/>
                </a:lnTo>
                <a:lnTo>
                  <a:pt x="1059453" y="524529"/>
                </a:lnTo>
                <a:lnTo>
                  <a:pt x="1033294" y="542170"/>
                </a:lnTo>
                <a:lnTo>
                  <a:pt x="1001267" y="548639"/>
                </a:lnTo>
                <a:close/>
              </a:path>
            </a:pathLst>
          </a:custGeom>
          <a:solidFill>
            <a:srgbClr val="DDEBF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8" name="Google Shape;98;p9"/>
          <p:cNvSpPr txBox="1"/>
          <p:nvPr/>
        </p:nvSpPr>
        <p:spPr>
          <a:xfrm>
            <a:off x="972542" y="2754121"/>
            <a:ext cx="510540" cy="2425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SQLite</a:t>
            </a:r>
            <a:endParaRPr sz="1400">
              <a:latin typeface="Calibri"/>
              <a:ea typeface="Calibri"/>
              <a:cs typeface="Calibri"/>
              <a:sym typeface="Calibri"/>
            </a:endParaRPr>
          </a:p>
        </p:txBody>
      </p:sp>
      <p:sp>
        <p:nvSpPr>
          <p:cNvPr id="99" name="Google Shape;99;p9"/>
          <p:cNvSpPr/>
          <p:nvPr/>
        </p:nvSpPr>
        <p:spPr>
          <a:xfrm>
            <a:off x="1975104" y="2633472"/>
            <a:ext cx="2482215" cy="548640"/>
          </a:xfrm>
          <a:custGeom>
            <a:rect b="b" l="l" r="r" t="t"/>
            <a:pathLst>
              <a:path extrusionOk="0" h="548639" w="2482215">
                <a:moveTo>
                  <a:pt x="2400299" y="548639"/>
                </a:moveTo>
                <a:lnTo>
                  <a:pt x="82296" y="548639"/>
                </a:lnTo>
                <a:lnTo>
                  <a:pt x="50269" y="542170"/>
                </a:lnTo>
                <a:lnTo>
                  <a:pt x="24110" y="524529"/>
                </a:lnTo>
                <a:lnTo>
                  <a:pt x="6469" y="498370"/>
                </a:lnTo>
                <a:lnTo>
                  <a:pt x="0" y="466344"/>
                </a:lnTo>
                <a:lnTo>
                  <a:pt x="0" y="82296"/>
                </a:lnTo>
                <a:lnTo>
                  <a:pt x="6469" y="50269"/>
                </a:lnTo>
                <a:lnTo>
                  <a:pt x="24110" y="24110"/>
                </a:lnTo>
                <a:lnTo>
                  <a:pt x="50269" y="6469"/>
                </a:lnTo>
                <a:lnTo>
                  <a:pt x="82296" y="0"/>
                </a:lnTo>
                <a:lnTo>
                  <a:pt x="2400299" y="0"/>
                </a:lnTo>
                <a:lnTo>
                  <a:pt x="2432326" y="6469"/>
                </a:lnTo>
                <a:lnTo>
                  <a:pt x="2458485" y="24110"/>
                </a:lnTo>
                <a:lnTo>
                  <a:pt x="2476126" y="50269"/>
                </a:lnTo>
                <a:lnTo>
                  <a:pt x="2481738" y="78051"/>
                </a:lnTo>
                <a:lnTo>
                  <a:pt x="2481738" y="470588"/>
                </a:lnTo>
                <a:lnTo>
                  <a:pt x="2476126" y="498370"/>
                </a:lnTo>
                <a:lnTo>
                  <a:pt x="2458485" y="524529"/>
                </a:lnTo>
                <a:lnTo>
                  <a:pt x="2432326" y="542170"/>
                </a:lnTo>
                <a:lnTo>
                  <a:pt x="2400299" y="548639"/>
                </a:lnTo>
                <a:close/>
              </a:path>
            </a:pathLst>
          </a:custGeom>
          <a:solidFill>
            <a:srgbClr val="FFF1E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9"/>
          <p:cNvSpPr txBox="1"/>
          <p:nvPr/>
        </p:nvSpPr>
        <p:spPr>
          <a:xfrm>
            <a:off x="2497589" y="2754121"/>
            <a:ext cx="1437640" cy="2425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Server-Sent Events</a:t>
            </a:r>
            <a:endParaRPr sz="1400">
              <a:latin typeface="Calibri"/>
              <a:ea typeface="Calibri"/>
              <a:cs typeface="Calibri"/>
              <a:sym typeface="Calibri"/>
            </a:endParaRPr>
          </a:p>
        </p:txBody>
      </p:sp>
      <p:sp>
        <p:nvSpPr>
          <p:cNvPr id="101" name="Google Shape;101;p9"/>
          <p:cNvSpPr/>
          <p:nvPr/>
        </p:nvSpPr>
        <p:spPr>
          <a:xfrm>
            <a:off x="4663439" y="2633472"/>
            <a:ext cx="1083945" cy="548640"/>
          </a:xfrm>
          <a:custGeom>
            <a:rect b="b" l="l" r="r" t="t"/>
            <a:pathLst>
              <a:path extrusionOk="0" h="548639" w="1083945">
                <a:moveTo>
                  <a:pt x="1001267"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1001267" y="0"/>
                </a:lnTo>
                <a:lnTo>
                  <a:pt x="1033294" y="6469"/>
                </a:lnTo>
                <a:lnTo>
                  <a:pt x="1059453" y="24110"/>
                </a:lnTo>
                <a:lnTo>
                  <a:pt x="1077094" y="50269"/>
                </a:lnTo>
                <a:lnTo>
                  <a:pt x="1083563" y="82295"/>
                </a:lnTo>
                <a:lnTo>
                  <a:pt x="1083563" y="466343"/>
                </a:lnTo>
                <a:lnTo>
                  <a:pt x="1077094" y="498370"/>
                </a:lnTo>
                <a:lnTo>
                  <a:pt x="1059453" y="524529"/>
                </a:lnTo>
                <a:lnTo>
                  <a:pt x="1033294" y="542170"/>
                </a:lnTo>
                <a:lnTo>
                  <a:pt x="1001267" y="548639"/>
                </a:lnTo>
                <a:close/>
              </a:path>
            </a:pathLst>
          </a:custGeom>
          <a:solidFill>
            <a:srgbClr val="DDEBF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 name="Google Shape;102;p9"/>
          <p:cNvSpPr txBox="1"/>
          <p:nvPr/>
        </p:nvSpPr>
        <p:spPr>
          <a:xfrm>
            <a:off x="4943633" y="2754121"/>
            <a:ext cx="523240" cy="2425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PyTest</a:t>
            </a:r>
            <a:endParaRPr sz="1400">
              <a:latin typeface="Calibri"/>
              <a:ea typeface="Calibri"/>
              <a:cs typeface="Calibri"/>
              <a:sym typeface="Calibri"/>
            </a:endParaRPr>
          </a:p>
        </p:txBody>
      </p:sp>
      <p:sp>
        <p:nvSpPr>
          <p:cNvPr id="103" name="Google Shape;103;p9"/>
          <p:cNvSpPr/>
          <p:nvPr/>
        </p:nvSpPr>
        <p:spPr>
          <a:xfrm>
            <a:off x="5952744" y="2633472"/>
            <a:ext cx="1783080" cy="548640"/>
          </a:xfrm>
          <a:custGeom>
            <a:rect b="b" l="l" r="r" t="t"/>
            <a:pathLst>
              <a:path extrusionOk="0" h="548639" w="1783079">
                <a:moveTo>
                  <a:pt x="1700783" y="548639"/>
                </a:moveTo>
                <a:lnTo>
                  <a:pt x="82295" y="548639"/>
                </a:lnTo>
                <a:lnTo>
                  <a:pt x="50269" y="542170"/>
                </a:lnTo>
                <a:lnTo>
                  <a:pt x="24110" y="524529"/>
                </a:lnTo>
                <a:lnTo>
                  <a:pt x="6469" y="498370"/>
                </a:lnTo>
                <a:lnTo>
                  <a:pt x="0" y="466343"/>
                </a:lnTo>
                <a:lnTo>
                  <a:pt x="0" y="82295"/>
                </a:lnTo>
                <a:lnTo>
                  <a:pt x="6469" y="50269"/>
                </a:lnTo>
                <a:lnTo>
                  <a:pt x="24110" y="24110"/>
                </a:lnTo>
                <a:lnTo>
                  <a:pt x="50269" y="6469"/>
                </a:lnTo>
                <a:lnTo>
                  <a:pt x="82295" y="0"/>
                </a:lnTo>
                <a:lnTo>
                  <a:pt x="1700783" y="0"/>
                </a:lnTo>
                <a:lnTo>
                  <a:pt x="1732810" y="6469"/>
                </a:lnTo>
                <a:lnTo>
                  <a:pt x="1758969" y="24110"/>
                </a:lnTo>
                <a:lnTo>
                  <a:pt x="1776610" y="50269"/>
                </a:lnTo>
                <a:lnTo>
                  <a:pt x="1783079" y="82295"/>
                </a:lnTo>
                <a:lnTo>
                  <a:pt x="1783079" y="466343"/>
                </a:lnTo>
                <a:lnTo>
                  <a:pt x="1776610" y="498370"/>
                </a:lnTo>
                <a:lnTo>
                  <a:pt x="1758969" y="524529"/>
                </a:lnTo>
                <a:lnTo>
                  <a:pt x="1732810" y="542170"/>
                </a:lnTo>
                <a:lnTo>
                  <a:pt x="1700783" y="548639"/>
                </a:lnTo>
                <a:close/>
              </a:path>
            </a:pathLst>
          </a:custGeom>
          <a:solidFill>
            <a:srgbClr val="FFF1E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4" name="Google Shape;104;p9"/>
          <p:cNvSpPr txBox="1"/>
          <p:nvPr/>
        </p:nvSpPr>
        <p:spPr>
          <a:xfrm>
            <a:off x="6374622" y="2754121"/>
            <a:ext cx="939165" cy="2425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400">
                <a:solidFill>
                  <a:srgbClr val="404040"/>
                </a:solidFill>
                <a:latin typeface="Calibri"/>
                <a:ea typeface="Calibri"/>
                <a:cs typeface="Calibri"/>
                <a:sym typeface="Calibri"/>
              </a:rPr>
              <a:t>Lucide Icons</a:t>
            </a:r>
            <a:endParaRPr sz="1400">
              <a:latin typeface="Calibri"/>
              <a:ea typeface="Calibri"/>
              <a:cs typeface="Calibri"/>
              <a:sym typeface="Calibri"/>
            </a:endParaRPr>
          </a:p>
        </p:txBody>
      </p:sp>
      <p:pic>
        <p:nvPicPr>
          <p:cNvPr id="105" name="Google Shape;105;p9"/>
          <p:cNvPicPr preferRelativeResize="0"/>
          <p:nvPr/>
        </p:nvPicPr>
        <p:blipFill rotWithShape="1">
          <a:blip r:embed="rId3">
            <a:alphaModFix/>
          </a:blip>
          <a:srcRect b="0" l="0" r="0" t="0"/>
          <a:stretch/>
        </p:blipFill>
        <p:spPr>
          <a:xfrm>
            <a:off x="0" y="3710525"/>
            <a:ext cx="18197426" cy="6151750"/>
          </a:xfrm>
          <a:prstGeom prst="rect">
            <a:avLst/>
          </a:prstGeom>
          <a:noFill/>
          <a:ln>
            <a:noFill/>
          </a:ln>
        </p:spPr>
      </p:pic>
      <p:sp>
        <p:nvSpPr>
          <p:cNvPr id="106" name="Google Shape;106;p9"/>
          <p:cNvSpPr/>
          <p:nvPr/>
        </p:nvSpPr>
        <p:spPr>
          <a:xfrm>
            <a:off x="9713594" y="1291818"/>
            <a:ext cx="57150" cy="57150"/>
          </a:xfrm>
          <a:custGeom>
            <a:rect b="b" l="l" r="r" t="t"/>
            <a:pathLst>
              <a:path extrusionOk="0" h="57150" w="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7" name="Google Shape;107;p9"/>
          <p:cNvSpPr txBox="1"/>
          <p:nvPr/>
        </p:nvSpPr>
        <p:spPr>
          <a:xfrm>
            <a:off x="9870099" y="1113375"/>
            <a:ext cx="7036500" cy="851100"/>
          </a:xfrm>
          <a:prstGeom prst="rect">
            <a:avLst/>
          </a:prstGeom>
          <a:noFill/>
          <a:ln>
            <a:noFill/>
          </a:ln>
        </p:spPr>
        <p:txBody>
          <a:bodyPr anchorCtr="0" anchor="t" bIns="0" lIns="0" spcFirstLastPara="1" rIns="0" wrap="square" tIns="12050">
            <a:spAutoFit/>
          </a:bodyPr>
          <a:lstStyle/>
          <a:p>
            <a:pPr indent="0" lvl="0" marL="12700" marR="5080" rtl="0" algn="l">
              <a:lnSpc>
                <a:spcPct val="110300"/>
              </a:lnSpc>
              <a:spcBef>
                <a:spcPts val="0"/>
              </a:spcBef>
              <a:spcAft>
                <a:spcPts val="0"/>
              </a:spcAft>
              <a:buNone/>
            </a:pPr>
            <a:r>
              <a:rPr lang="en-US" sz="1700">
                <a:solidFill>
                  <a:srgbClr val="404040"/>
                </a:solidFill>
                <a:latin typeface="Calibri"/>
                <a:ea typeface="Calibri"/>
                <a:cs typeface="Calibri"/>
                <a:sym typeface="Calibri"/>
              </a:rPr>
              <a:t>Backend: FastAPI (Python) on Port 3001 — REST API + SSE for real-time scraper log streaming; recalculates CPI after every scrape or override. Frontend: React + TypeScript + Vite — 5-module enterprise dashboard</a:t>
            </a:r>
            <a:endParaRPr sz="1700">
              <a:latin typeface="Calibri"/>
              <a:ea typeface="Calibri"/>
              <a:cs typeface="Calibri"/>
              <a:sym typeface="Calibri"/>
            </a:endParaRPr>
          </a:p>
        </p:txBody>
      </p:sp>
      <p:sp>
        <p:nvSpPr>
          <p:cNvPr id="108" name="Google Shape;108;p9"/>
          <p:cNvSpPr/>
          <p:nvPr/>
        </p:nvSpPr>
        <p:spPr>
          <a:xfrm>
            <a:off x="9713594" y="1863318"/>
            <a:ext cx="57150" cy="57150"/>
          </a:xfrm>
          <a:custGeom>
            <a:rect b="b" l="l" r="r" t="t"/>
            <a:pathLst>
              <a:path extrusionOk="0" h="57150" w="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9"/>
          <p:cNvSpPr txBox="1"/>
          <p:nvPr/>
        </p:nvSpPr>
        <p:spPr>
          <a:xfrm>
            <a:off x="9870098" y="1970625"/>
            <a:ext cx="7299600" cy="1428300"/>
          </a:xfrm>
          <a:prstGeom prst="rect">
            <a:avLst/>
          </a:prstGeom>
          <a:noFill/>
          <a:ln>
            <a:noFill/>
          </a:ln>
        </p:spPr>
        <p:txBody>
          <a:bodyPr anchorCtr="0" anchor="t" bIns="0" lIns="0" spcFirstLastPara="1" rIns="0" wrap="square" tIns="12050">
            <a:spAutoFit/>
          </a:bodyPr>
          <a:lstStyle/>
          <a:p>
            <a:pPr indent="0" lvl="0" marL="12700" marR="5080" rtl="0" algn="l">
              <a:lnSpc>
                <a:spcPct val="110300"/>
              </a:lnSpc>
              <a:spcBef>
                <a:spcPts val="0"/>
              </a:spcBef>
              <a:spcAft>
                <a:spcPts val="0"/>
              </a:spcAft>
              <a:buNone/>
            </a:pPr>
            <a:r>
              <a:rPr lang="en-US" sz="1700">
                <a:solidFill>
                  <a:srgbClr val="404040"/>
                </a:solidFill>
                <a:latin typeface="Calibri"/>
                <a:ea typeface="Calibri"/>
                <a:cs typeface="Calibri"/>
                <a:sym typeface="Calibri"/>
              </a:rPr>
              <a:t>with client-side dynamic index recalculation and interactive SVG charts. Scraping: 3-layer architecture — mock portal server, standard HTTP scraper (rate-limited, proxy/UA rotation), and Playwright stealth scraper with anti-detection patches.</a:t>
            </a:r>
            <a:endParaRPr sz="1700">
              <a:latin typeface="Calibri"/>
              <a:ea typeface="Calibri"/>
              <a:cs typeface="Calibri"/>
              <a:sym typeface="Calibri"/>
            </a:endParaRPr>
          </a:p>
          <a:p>
            <a:pPr indent="0" lvl="0" marL="12700" marR="438150" rtl="0" algn="l">
              <a:lnSpc>
                <a:spcPct val="110300"/>
              </a:lnSpc>
              <a:spcBef>
                <a:spcPts val="0"/>
              </a:spcBef>
              <a:spcAft>
                <a:spcPts val="0"/>
              </a:spcAft>
              <a:buNone/>
            </a:pPr>
            <a:r>
              <a:rPr lang="en-US" sz="1700">
                <a:solidFill>
                  <a:srgbClr val="404040"/>
                </a:solidFill>
                <a:latin typeface="Calibri"/>
                <a:ea typeface="Calibri"/>
                <a:cs typeface="Calibri"/>
                <a:sym typeface="Calibri"/>
              </a:rPr>
              <a:t>Storage: SQLite (flights, index_history, overrides, settings) — auto-seeds 35+ days of historical data on startup.</a:t>
            </a:r>
            <a:endParaRPr sz="1700">
              <a:latin typeface="Calibri"/>
              <a:ea typeface="Calibri"/>
              <a:cs typeface="Calibri"/>
              <a:sym typeface="Calibri"/>
            </a:endParaRPr>
          </a:p>
        </p:txBody>
      </p:sp>
      <p:sp>
        <p:nvSpPr>
          <p:cNvPr id="110" name="Google Shape;110;p9"/>
          <p:cNvSpPr/>
          <p:nvPr/>
        </p:nvSpPr>
        <p:spPr>
          <a:xfrm>
            <a:off x="9713594" y="2434818"/>
            <a:ext cx="57150" cy="57150"/>
          </a:xfrm>
          <a:custGeom>
            <a:rect b="b" l="l" r="r" t="t"/>
            <a:pathLst>
              <a:path extrusionOk="0" h="57150" w="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1" name="Google Shape;111;p9"/>
          <p:cNvSpPr/>
          <p:nvPr/>
        </p:nvSpPr>
        <p:spPr>
          <a:xfrm>
            <a:off x="9713594" y="3292068"/>
            <a:ext cx="57150" cy="57150"/>
          </a:xfrm>
          <a:custGeom>
            <a:rect b="b" l="l" r="r" t="t"/>
            <a:pathLst>
              <a:path extrusionOk="0" h="57150" w="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12" name="Google Shape;112;p9"/>
          <p:cNvPicPr preferRelativeResize="0"/>
          <p:nvPr/>
        </p:nvPicPr>
        <p:blipFill>
          <a:blip r:embed="rId4">
            <a:alphaModFix/>
          </a:blip>
          <a:stretch>
            <a:fillRect/>
          </a:stretch>
        </p:blipFill>
        <p:spPr>
          <a:xfrm>
            <a:off x="15841175" y="283325"/>
            <a:ext cx="2172450" cy="882650"/>
          </a:xfrm>
          <a:prstGeom prst="rect">
            <a:avLst/>
          </a:prstGeom>
          <a:noFill/>
          <a:ln>
            <a:noFill/>
          </a:ln>
        </p:spPr>
      </p:pic>
      <p:pic>
        <p:nvPicPr>
          <p:cNvPr id="113" name="Google Shape;113;p9"/>
          <p:cNvPicPr preferRelativeResize="0"/>
          <p:nvPr/>
        </p:nvPicPr>
        <p:blipFill>
          <a:blip r:embed="rId5">
            <a:alphaModFix/>
          </a:blip>
          <a:stretch>
            <a:fillRect/>
          </a:stretch>
        </p:blipFill>
        <p:spPr>
          <a:xfrm>
            <a:off x="744146" y="365559"/>
            <a:ext cx="1254863" cy="71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nvSpPr>
        <p:spPr>
          <a:xfrm>
            <a:off x="1027013" y="471169"/>
            <a:ext cx="689100" cy="47460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1500">
                <a:solidFill>
                  <a:srgbClr val="404040"/>
                </a:solidFill>
                <a:latin typeface="Calibri"/>
                <a:ea typeface="Calibri"/>
                <a:cs typeface="Calibri"/>
                <a:sym typeface="Calibri"/>
              </a:rPr>
              <a:t>Error 404</a:t>
            </a:r>
            <a:endParaRPr sz="1500">
              <a:latin typeface="Calibri"/>
              <a:ea typeface="Calibri"/>
              <a:cs typeface="Calibri"/>
              <a:sym typeface="Calibri"/>
            </a:endParaRPr>
          </a:p>
        </p:txBody>
      </p:sp>
      <p:sp>
        <p:nvSpPr>
          <p:cNvPr descr="$PPTXTitle" id="119" name="Google Shape;119;p10"/>
          <p:cNvSpPr txBox="1"/>
          <p:nvPr>
            <p:ph type="title"/>
          </p:nvPr>
        </p:nvSpPr>
        <p:spPr>
          <a:xfrm>
            <a:off x="5564097" y="460502"/>
            <a:ext cx="6885305" cy="528319"/>
          </a:xfrm>
          <a:prstGeom prst="rect">
            <a:avLst/>
          </a:prstGeom>
          <a:noFill/>
          <a:ln>
            <a:noFill/>
          </a:ln>
        </p:spPr>
        <p:txBody>
          <a:bodyPr anchorCtr="0" anchor="t" bIns="0" lIns="0" spcFirstLastPara="1" rIns="0" wrap="square" tIns="12700">
            <a:spAutoFit/>
          </a:bodyPr>
          <a:lstStyle/>
          <a:p>
            <a:pPr indent="0" lvl="0" marL="161925" rtl="0" algn="l">
              <a:lnSpc>
                <a:spcPct val="100000"/>
              </a:lnSpc>
              <a:spcBef>
                <a:spcPts val="0"/>
              </a:spcBef>
              <a:spcAft>
                <a:spcPts val="0"/>
              </a:spcAft>
              <a:buNone/>
            </a:pPr>
            <a:r>
              <a:rPr lang="en-US"/>
              <a:t>FEASIBILITY AND VIABILITY</a:t>
            </a:r>
            <a:endParaRPr/>
          </a:p>
        </p:txBody>
      </p:sp>
      <p:sp>
        <p:nvSpPr>
          <p:cNvPr id="120" name="Google Shape;120;p10"/>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1" name="Google Shape;121;p10"/>
          <p:cNvSpPr txBox="1"/>
          <p:nvPr/>
        </p:nvSpPr>
        <p:spPr>
          <a:xfrm>
            <a:off x="530557" y="1357883"/>
            <a:ext cx="8161800" cy="617100"/>
          </a:xfrm>
          <a:prstGeom prst="rect">
            <a:avLst/>
          </a:prstGeom>
          <a:solidFill>
            <a:srgbClr val="DDEBF6"/>
          </a:solidFill>
          <a:ln>
            <a:noFill/>
          </a:ln>
        </p:spPr>
        <p:txBody>
          <a:bodyPr anchorCtr="0" anchor="t" bIns="0" lIns="0" spcFirstLastPara="1" rIns="0" wrap="square" tIns="0">
            <a:spAutoFit/>
          </a:bodyPr>
          <a:lstStyle/>
          <a:p>
            <a:pPr indent="0" lvl="0" marL="0" marR="1053465" rtl="0" algn="ctr">
              <a:lnSpc>
                <a:spcPct val="90476"/>
              </a:lnSpc>
              <a:spcBef>
                <a:spcPts val="0"/>
              </a:spcBef>
              <a:spcAft>
                <a:spcPts val="0"/>
              </a:spcAft>
              <a:buNone/>
            </a:pPr>
            <a:r>
              <a:rPr b="1" lang="en-US" sz="2100">
                <a:solidFill>
                  <a:srgbClr val="1F3764"/>
                </a:solidFill>
                <a:latin typeface="Calibri"/>
                <a:ea typeface="Calibri"/>
                <a:cs typeface="Calibri"/>
                <a:sym typeface="Calibri"/>
              </a:rPr>
              <a:t>Feasibility</a:t>
            </a:r>
            <a:endParaRPr sz="2100">
              <a:latin typeface="Calibri"/>
              <a:ea typeface="Calibri"/>
              <a:cs typeface="Calibri"/>
              <a:sym typeface="Calibri"/>
            </a:endParaRPr>
          </a:p>
        </p:txBody>
      </p:sp>
      <p:sp>
        <p:nvSpPr>
          <p:cNvPr id="122" name="Google Shape;122;p10"/>
          <p:cNvSpPr txBox="1"/>
          <p:nvPr/>
        </p:nvSpPr>
        <p:spPr>
          <a:xfrm>
            <a:off x="8777681" y="1216533"/>
            <a:ext cx="8229000" cy="617100"/>
          </a:xfrm>
          <a:prstGeom prst="rect">
            <a:avLst/>
          </a:prstGeom>
          <a:solidFill>
            <a:srgbClr val="FFF1E4"/>
          </a:solidFill>
          <a:ln>
            <a:noFill/>
          </a:ln>
        </p:spPr>
        <p:txBody>
          <a:bodyPr anchorCtr="0" anchor="t" bIns="0" lIns="0" spcFirstLastPara="1" rIns="0" wrap="square" tIns="104775">
            <a:spAutoFit/>
          </a:bodyPr>
          <a:lstStyle/>
          <a:p>
            <a:pPr indent="0" lvl="0" marL="732155" rtl="0" algn="ctr">
              <a:lnSpc>
                <a:spcPct val="100000"/>
              </a:lnSpc>
              <a:spcBef>
                <a:spcPts val="0"/>
              </a:spcBef>
              <a:spcAft>
                <a:spcPts val="0"/>
              </a:spcAft>
              <a:buNone/>
            </a:pPr>
            <a:r>
              <a:rPr b="1" lang="en-US" sz="2100">
                <a:solidFill>
                  <a:srgbClr val="1F3764"/>
                </a:solidFill>
                <a:latin typeface="Calibri"/>
                <a:ea typeface="Calibri"/>
                <a:cs typeface="Calibri"/>
                <a:sym typeface="Calibri"/>
              </a:rPr>
              <a:t>Viability</a:t>
            </a:r>
            <a:endParaRPr sz="2100">
              <a:latin typeface="Calibri"/>
              <a:ea typeface="Calibri"/>
              <a:cs typeface="Calibri"/>
              <a:sym typeface="Calibri"/>
            </a:endParaRPr>
          </a:p>
        </p:txBody>
      </p:sp>
      <p:sp>
        <p:nvSpPr>
          <p:cNvPr id="123" name="Google Shape;123;p10"/>
          <p:cNvSpPr/>
          <p:nvPr/>
        </p:nvSpPr>
        <p:spPr>
          <a:xfrm>
            <a:off x="388468" y="2615580"/>
            <a:ext cx="50800" cy="50800"/>
          </a:xfrm>
          <a:custGeom>
            <a:rect b="b" l="l" r="r" t="t"/>
            <a:pathLst>
              <a:path extrusionOk="0" h="50800" w="50800">
                <a:moveTo>
                  <a:pt x="28730" y="50732"/>
                </a:moveTo>
                <a:lnTo>
                  <a:pt x="22002" y="50732"/>
                </a:lnTo>
                <a:lnTo>
                  <a:pt x="18766" y="50089"/>
                </a:lnTo>
                <a:lnTo>
                  <a:pt x="0" y="28730"/>
                </a:lnTo>
                <a:lnTo>
                  <a:pt x="0" y="22002"/>
                </a:lnTo>
                <a:lnTo>
                  <a:pt x="22002" y="0"/>
                </a:lnTo>
                <a:lnTo>
                  <a:pt x="28730" y="0"/>
                </a:lnTo>
                <a:lnTo>
                  <a:pt x="50732" y="25366"/>
                </a:lnTo>
                <a:lnTo>
                  <a:pt x="50732" y="28730"/>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4" name="Google Shape;124;p10"/>
          <p:cNvSpPr/>
          <p:nvPr/>
        </p:nvSpPr>
        <p:spPr>
          <a:xfrm>
            <a:off x="388468" y="3199006"/>
            <a:ext cx="50800" cy="50800"/>
          </a:xfrm>
          <a:custGeom>
            <a:rect b="b" l="l" r="r" t="t"/>
            <a:pathLst>
              <a:path extrusionOk="0" h="50800" w="50800">
                <a:moveTo>
                  <a:pt x="28730" y="50732"/>
                </a:moveTo>
                <a:lnTo>
                  <a:pt x="22002" y="50732"/>
                </a:lnTo>
                <a:lnTo>
                  <a:pt x="18766" y="50088"/>
                </a:lnTo>
                <a:lnTo>
                  <a:pt x="0" y="28730"/>
                </a:lnTo>
                <a:lnTo>
                  <a:pt x="0" y="22002"/>
                </a:lnTo>
                <a:lnTo>
                  <a:pt x="22002" y="0"/>
                </a:lnTo>
                <a:lnTo>
                  <a:pt x="28730" y="0"/>
                </a:lnTo>
                <a:lnTo>
                  <a:pt x="50732" y="25366"/>
                </a:lnTo>
                <a:lnTo>
                  <a:pt x="50732" y="28730"/>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5" name="Google Shape;125;p10"/>
          <p:cNvSpPr/>
          <p:nvPr/>
        </p:nvSpPr>
        <p:spPr>
          <a:xfrm>
            <a:off x="388468" y="3782432"/>
            <a:ext cx="50800" cy="50800"/>
          </a:xfrm>
          <a:custGeom>
            <a:rect b="b" l="l" r="r" t="t"/>
            <a:pathLst>
              <a:path extrusionOk="0" h="50800" w="50800">
                <a:moveTo>
                  <a:pt x="28730" y="50732"/>
                </a:moveTo>
                <a:lnTo>
                  <a:pt x="22002" y="50732"/>
                </a:lnTo>
                <a:lnTo>
                  <a:pt x="18766" y="50088"/>
                </a:lnTo>
                <a:lnTo>
                  <a:pt x="0" y="28730"/>
                </a:lnTo>
                <a:lnTo>
                  <a:pt x="0" y="22002"/>
                </a:lnTo>
                <a:lnTo>
                  <a:pt x="22002" y="0"/>
                </a:lnTo>
                <a:lnTo>
                  <a:pt x="28730" y="0"/>
                </a:lnTo>
                <a:lnTo>
                  <a:pt x="50732" y="25366"/>
                </a:lnTo>
                <a:lnTo>
                  <a:pt x="50732" y="28730"/>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6" name="Google Shape;126;p10"/>
          <p:cNvSpPr/>
          <p:nvPr/>
        </p:nvSpPr>
        <p:spPr>
          <a:xfrm>
            <a:off x="388468" y="4657571"/>
            <a:ext cx="50800" cy="50800"/>
          </a:xfrm>
          <a:custGeom>
            <a:rect b="b" l="l" r="r" t="t"/>
            <a:pathLst>
              <a:path extrusionOk="0" h="50800" w="50800">
                <a:moveTo>
                  <a:pt x="28730" y="50732"/>
                </a:moveTo>
                <a:lnTo>
                  <a:pt x="22002" y="50732"/>
                </a:lnTo>
                <a:lnTo>
                  <a:pt x="18766" y="50088"/>
                </a:lnTo>
                <a:lnTo>
                  <a:pt x="0" y="28730"/>
                </a:lnTo>
                <a:lnTo>
                  <a:pt x="0" y="22002"/>
                </a:lnTo>
                <a:lnTo>
                  <a:pt x="22002" y="0"/>
                </a:lnTo>
                <a:lnTo>
                  <a:pt x="28730" y="0"/>
                </a:lnTo>
                <a:lnTo>
                  <a:pt x="50732" y="25366"/>
                </a:lnTo>
                <a:lnTo>
                  <a:pt x="50732" y="28730"/>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7" name="Google Shape;127;p10"/>
          <p:cNvSpPr/>
          <p:nvPr/>
        </p:nvSpPr>
        <p:spPr>
          <a:xfrm>
            <a:off x="388468" y="5240998"/>
            <a:ext cx="50800" cy="50800"/>
          </a:xfrm>
          <a:custGeom>
            <a:rect b="b" l="l" r="r" t="t"/>
            <a:pathLst>
              <a:path extrusionOk="0" h="50800" w="50800">
                <a:moveTo>
                  <a:pt x="28730" y="50732"/>
                </a:moveTo>
                <a:lnTo>
                  <a:pt x="22002" y="50732"/>
                </a:lnTo>
                <a:lnTo>
                  <a:pt x="18766" y="50088"/>
                </a:lnTo>
                <a:lnTo>
                  <a:pt x="0" y="28730"/>
                </a:lnTo>
                <a:lnTo>
                  <a:pt x="0" y="22002"/>
                </a:lnTo>
                <a:lnTo>
                  <a:pt x="22002" y="0"/>
                </a:lnTo>
                <a:lnTo>
                  <a:pt x="28730" y="0"/>
                </a:lnTo>
                <a:lnTo>
                  <a:pt x="50732" y="25366"/>
                </a:lnTo>
                <a:lnTo>
                  <a:pt x="50732" y="28730"/>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p10"/>
          <p:cNvSpPr/>
          <p:nvPr/>
        </p:nvSpPr>
        <p:spPr>
          <a:xfrm>
            <a:off x="388468" y="5824424"/>
            <a:ext cx="50800" cy="50800"/>
          </a:xfrm>
          <a:custGeom>
            <a:rect b="b" l="l" r="r" t="t"/>
            <a:pathLst>
              <a:path extrusionOk="0" h="50800" w="50800">
                <a:moveTo>
                  <a:pt x="28730" y="50732"/>
                </a:moveTo>
                <a:lnTo>
                  <a:pt x="22002" y="50732"/>
                </a:lnTo>
                <a:lnTo>
                  <a:pt x="18766" y="50088"/>
                </a:lnTo>
                <a:lnTo>
                  <a:pt x="0" y="28729"/>
                </a:lnTo>
                <a:lnTo>
                  <a:pt x="0" y="22002"/>
                </a:lnTo>
                <a:lnTo>
                  <a:pt x="22002" y="0"/>
                </a:lnTo>
                <a:lnTo>
                  <a:pt x="28730" y="0"/>
                </a:lnTo>
                <a:lnTo>
                  <a:pt x="50732" y="25366"/>
                </a:lnTo>
                <a:lnTo>
                  <a:pt x="50732" y="28729"/>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9" name="Google Shape;129;p10"/>
          <p:cNvSpPr/>
          <p:nvPr/>
        </p:nvSpPr>
        <p:spPr>
          <a:xfrm>
            <a:off x="388468" y="6699563"/>
            <a:ext cx="50800" cy="50800"/>
          </a:xfrm>
          <a:custGeom>
            <a:rect b="b" l="l" r="r" t="t"/>
            <a:pathLst>
              <a:path extrusionOk="0" h="50800" w="50800">
                <a:moveTo>
                  <a:pt x="28730" y="50732"/>
                </a:moveTo>
                <a:lnTo>
                  <a:pt x="22002" y="50732"/>
                </a:lnTo>
                <a:lnTo>
                  <a:pt x="18766" y="50088"/>
                </a:lnTo>
                <a:lnTo>
                  <a:pt x="0" y="28729"/>
                </a:lnTo>
                <a:lnTo>
                  <a:pt x="0" y="22002"/>
                </a:lnTo>
                <a:lnTo>
                  <a:pt x="22002" y="0"/>
                </a:lnTo>
                <a:lnTo>
                  <a:pt x="28730" y="0"/>
                </a:lnTo>
                <a:lnTo>
                  <a:pt x="50732" y="25366"/>
                </a:lnTo>
                <a:lnTo>
                  <a:pt x="50732" y="28729"/>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0" name="Google Shape;130;p10"/>
          <p:cNvSpPr/>
          <p:nvPr/>
        </p:nvSpPr>
        <p:spPr>
          <a:xfrm>
            <a:off x="388468" y="6991277"/>
            <a:ext cx="50800" cy="50800"/>
          </a:xfrm>
          <a:custGeom>
            <a:rect b="b" l="l" r="r" t="t"/>
            <a:pathLst>
              <a:path extrusionOk="0" h="50800" w="50800">
                <a:moveTo>
                  <a:pt x="28730" y="50732"/>
                </a:moveTo>
                <a:lnTo>
                  <a:pt x="22002" y="50732"/>
                </a:lnTo>
                <a:lnTo>
                  <a:pt x="18766" y="50088"/>
                </a:lnTo>
                <a:lnTo>
                  <a:pt x="0" y="28729"/>
                </a:lnTo>
                <a:lnTo>
                  <a:pt x="0" y="22002"/>
                </a:lnTo>
                <a:lnTo>
                  <a:pt x="22002" y="0"/>
                </a:lnTo>
                <a:lnTo>
                  <a:pt x="28730" y="0"/>
                </a:lnTo>
                <a:lnTo>
                  <a:pt x="50732" y="25366"/>
                </a:lnTo>
                <a:lnTo>
                  <a:pt x="50732" y="28729"/>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p10"/>
          <p:cNvSpPr/>
          <p:nvPr/>
        </p:nvSpPr>
        <p:spPr>
          <a:xfrm>
            <a:off x="388468" y="7574703"/>
            <a:ext cx="50800" cy="50800"/>
          </a:xfrm>
          <a:custGeom>
            <a:rect b="b" l="l" r="r" t="t"/>
            <a:pathLst>
              <a:path extrusionOk="0" h="50800" w="50800">
                <a:moveTo>
                  <a:pt x="28730" y="50732"/>
                </a:moveTo>
                <a:lnTo>
                  <a:pt x="22002" y="50732"/>
                </a:lnTo>
                <a:lnTo>
                  <a:pt x="18766" y="50088"/>
                </a:lnTo>
                <a:lnTo>
                  <a:pt x="0" y="28729"/>
                </a:lnTo>
                <a:lnTo>
                  <a:pt x="0" y="22002"/>
                </a:lnTo>
                <a:lnTo>
                  <a:pt x="22002" y="0"/>
                </a:lnTo>
                <a:lnTo>
                  <a:pt x="28730" y="0"/>
                </a:lnTo>
                <a:lnTo>
                  <a:pt x="50732" y="25366"/>
                </a:lnTo>
                <a:lnTo>
                  <a:pt x="50732" y="28729"/>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10"/>
          <p:cNvSpPr/>
          <p:nvPr/>
        </p:nvSpPr>
        <p:spPr>
          <a:xfrm>
            <a:off x="388468" y="8158129"/>
            <a:ext cx="50800" cy="50800"/>
          </a:xfrm>
          <a:custGeom>
            <a:rect b="b" l="l" r="r" t="t"/>
            <a:pathLst>
              <a:path extrusionOk="0" h="50800" w="50800">
                <a:moveTo>
                  <a:pt x="28730" y="50732"/>
                </a:moveTo>
                <a:lnTo>
                  <a:pt x="22002" y="50732"/>
                </a:lnTo>
                <a:lnTo>
                  <a:pt x="18766" y="50088"/>
                </a:lnTo>
                <a:lnTo>
                  <a:pt x="0" y="28729"/>
                </a:lnTo>
                <a:lnTo>
                  <a:pt x="0" y="22002"/>
                </a:lnTo>
                <a:lnTo>
                  <a:pt x="22002" y="0"/>
                </a:lnTo>
                <a:lnTo>
                  <a:pt x="28730" y="0"/>
                </a:lnTo>
                <a:lnTo>
                  <a:pt x="50732" y="25366"/>
                </a:lnTo>
                <a:lnTo>
                  <a:pt x="50732" y="28729"/>
                </a:lnTo>
                <a:lnTo>
                  <a:pt x="28730" y="5073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3" name="Google Shape;133;p10"/>
          <p:cNvSpPr/>
          <p:nvPr/>
        </p:nvSpPr>
        <p:spPr>
          <a:xfrm>
            <a:off x="388468" y="8741555"/>
            <a:ext cx="50800" cy="50800"/>
          </a:xfrm>
          <a:custGeom>
            <a:rect b="b" l="l" r="r" t="t"/>
            <a:pathLst>
              <a:path extrusionOk="0" h="50800" w="50800">
                <a:moveTo>
                  <a:pt x="28730" y="50731"/>
                </a:moveTo>
                <a:lnTo>
                  <a:pt x="22002" y="50731"/>
                </a:lnTo>
                <a:lnTo>
                  <a:pt x="18766" y="50087"/>
                </a:lnTo>
                <a:lnTo>
                  <a:pt x="0" y="28729"/>
                </a:lnTo>
                <a:lnTo>
                  <a:pt x="0" y="22002"/>
                </a:lnTo>
                <a:lnTo>
                  <a:pt x="22002" y="0"/>
                </a:lnTo>
                <a:lnTo>
                  <a:pt x="28730" y="0"/>
                </a:lnTo>
                <a:lnTo>
                  <a:pt x="50732" y="25366"/>
                </a:lnTo>
                <a:lnTo>
                  <a:pt x="50732" y="28729"/>
                </a:lnTo>
                <a:lnTo>
                  <a:pt x="28730" y="5073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4" name="Google Shape;134;p10"/>
          <p:cNvSpPr txBox="1"/>
          <p:nvPr/>
        </p:nvSpPr>
        <p:spPr>
          <a:xfrm>
            <a:off x="261619" y="2138168"/>
            <a:ext cx="8427000" cy="7720500"/>
          </a:xfrm>
          <a:prstGeom prst="rect">
            <a:avLst/>
          </a:prstGeom>
          <a:noFill/>
          <a:ln>
            <a:noFill/>
          </a:ln>
        </p:spPr>
        <p:txBody>
          <a:bodyPr anchorCtr="0" anchor="t" bIns="0" lIns="0" spcFirstLastPara="1" rIns="0" wrap="square" tIns="52050">
            <a:spAutoFit/>
          </a:bodyPr>
          <a:lstStyle/>
          <a:p>
            <a:pPr indent="0" lvl="0" marL="12700" rtl="0" algn="l">
              <a:lnSpc>
                <a:spcPct val="100000"/>
              </a:lnSpc>
              <a:spcBef>
                <a:spcPts val="0"/>
              </a:spcBef>
              <a:spcAft>
                <a:spcPts val="0"/>
              </a:spcAft>
              <a:buNone/>
            </a:pPr>
            <a:r>
              <a:rPr b="1" lang="en-US" sz="1750">
                <a:solidFill>
                  <a:srgbClr val="404040"/>
                </a:solidFill>
                <a:latin typeface="Calibri"/>
                <a:ea typeface="Calibri"/>
                <a:cs typeface="Calibri"/>
                <a:sym typeface="Calibri"/>
              </a:rPr>
              <a:t>Technical Feasibility</a:t>
            </a:r>
            <a:endParaRPr sz="1750">
              <a:latin typeface="Calibri"/>
              <a:ea typeface="Calibri"/>
              <a:cs typeface="Calibri"/>
              <a:sym typeface="Calibri"/>
            </a:endParaRPr>
          </a:p>
          <a:p>
            <a:pPr indent="0" lvl="0" marL="316230" marR="1280795" rtl="0" algn="l">
              <a:lnSpc>
                <a:spcPct val="115999"/>
              </a:lnSpc>
              <a:spcBef>
                <a:spcPts val="0"/>
              </a:spcBef>
              <a:spcAft>
                <a:spcPts val="0"/>
              </a:spcAft>
              <a:buNone/>
            </a:pPr>
            <a:r>
              <a:rPr lang="en-US" sz="1750">
                <a:solidFill>
                  <a:srgbClr val="404040"/>
                </a:solidFill>
                <a:latin typeface="Calibri"/>
                <a:ea typeface="Calibri"/>
                <a:cs typeface="Calibri"/>
                <a:sym typeface="Calibri"/>
              </a:rPr>
              <a:t>Proven Stack: Built with lightweight, high-performance tech (FastAPI, React 19, SQLite/Postgres).</a:t>
            </a:r>
            <a:endParaRPr sz="1750">
              <a:latin typeface="Calibri"/>
              <a:ea typeface="Calibri"/>
              <a:cs typeface="Calibri"/>
              <a:sym typeface="Calibri"/>
            </a:endParaRPr>
          </a:p>
          <a:p>
            <a:pPr indent="0" lvl="0" marL="316230" marR="387985" rtl="0" algn="l">
              <a:lnSpc>
                <a:spcPct val="115999"/>
              </a:lnSpc>
              <a:spcBef>
                <a:spcPts val="0"/>
              </a:spcBef>
              <a:spcAft>
                <a:spcPts val="0"/>
              </a:spcAft>
              <a:buNone/>
            </a:pPr>
            <a:r>
              <a:rPr lang="en-US" sz="1750">
                <a:solidFill>
                  <a:srgbClr val="404040"/>
                </a:solidFill>
                <a:latin typeface="Calibri"/>
                <a:ea typeface="Calibri"/>
                <a:cs typeface="Calibri"/>
                <a:sym typeface="Calibri"/>
              </a:rPr>
              <a:t>Stealth Ingestion: Playwright headless scraping with proxy rotation bypasses bot blockers reliably.</a:t>
            </a:r>
            <a:endParaRPr sz="1750">
              <a:latin typeface="Calibri"/>
              <a:ea typeface="Calibri"/>
              <a:cs typeface="Calibri"/>
              <a:sym typeface="Calibri"/>
            </a:endParaRPr>
          </a:p>
          <a:p>
            <a:pPr indent="0" lvl="0" marL="316230" marR="258445" rtl="0" algn="l">
              <a:lnSpc>
                <a:spcPct val="115999"/>
              </a:lnSpc>
              <a:spcBef>
                <a:spcPts val="0"/>
              </a:spcBef>
              <a:spcAft>
                <a:spcPts val="0"/>
              </a:spcAft>
              <a:buNone/>
            </a:pPr>
            <a:r>
              <a:rPr lang="en-US" sz="1750">
                <a:solidFill>
                  <a:srgbClr val="404040"/>
                </a:solidFill>
                <a:latin typeface="Calibri"/>
                <a:ea typeface="Calibri"/>
                <a:cs typeface="Calibri"/>
                <a:sym typeface="Calibri"/>
              </a:rPr>
              <a:t>Zero-Downtime Design: Includes a mock portal fallback engine for offline testing and 100% demo stability.</a:t>
            </a:r>
            <a:endParaRPr sz="1750">
              <a:latin typeface="Calibri"/>
              <a:ea typeface="Calibri"/>
              <a:cs typeface="Calibri"/>
              <a:sym typeface="Calibri"/>
            </a:endParaRPr>
          </a:p>
          <a:p>
            <a:pPr indent="-215265" lvl="0" marL="221615" rtl="0" algn="l">
              <a:lnSpc>
                <a:spcPct val="100000"/>
              </a:lnSpc>
              <a:spcBef>
                <a:spcPts val="315"/>
              </a:spcBef>
              <a:spcAft>
                <a:spcPts val="0"/>
              </a:spcAft>
              <a:buClr>
                <a:srgbClr val="404040"/>
              </a:buClr>
              <a:buSzPts val="1750"/>
              <a:buFont typeface="Calibri"/>
              <a:buAutoNum type="arabicPeriod" startAt="2"/>
            </a:pPr>
            <a:r>
              <a:rPr b="1" lang="en-US" sz="1750">
                <a:solidFill>
                  <a:srgbClr val="404040"/>
                </a:solidFill>
                <a:latin typeface="Calibri"/>
                <a:ea typeface="Calibri"/>
                <a:cs typeface="Calibri"/>
                <a:sym typeface="Calibri"/>
              </a:rPr>
              <a:t>Economic Feasibility</a:t>
            </a:r>
            <a:endParaRPr sz="1750">
              <a:latin typeface="Calibri"/>
              <a:ea typeface="Calibri"/>
              <a:cs typeface="Calibri"/>
              <a:sym typeface="Calibri"/>
            </a:endParaRPr>
          </a:p>
          <a:p>
            <a:pPr indent="0" lvl="0" marL="316230" marR="5080" rtl="0" algn="l">
              <a:lnSpc>
                <a:spcPct val="115999"/>
              </a:lnSpc>
              <a:spcBef>
                <a:spcPts val="0"/>
              </a:spcBef>
              <a:spcAft>
                <a:spcPts val="0"/>
              </a:spcAft>
              <a:buNone/>
            </a:pPr>
            <a:r>
              <a:rPr lang="en-US" sz="1750">
                <a:solidFill>
                  <a:srgbClr val="404040"/>
                </a:solidFill>
                <a:latin typeface="Calibri"/>
                <a:ea typeface="Calibri"/>
                <a:cs typeface="Calibri"/>
                <a:sym typeface="Calibri"/>
              </a:rPr>
              <a:t>Near-Zero Data Costs: Replaces expensive GDS API licenses (Amadeus/Sabre) with automated web extraction.</a:t>
            </a:r>
            <a:endParaRPr sz="1750">
              <a:latin typeface="Calibri"/>
              <a:ea typeface="Calibri"/>
              <a:cs typeface="Calibri"/>
              <a:sym typeface="Calibri"/>
            </a:endParaRPr>
          </a:p>
          <a:p>
            <a:pPr indent="0" lvl="0" marL="316230" rtl="0" algn="l">
              <a:lnSpc>
                <a:spcPct val="100000"/>
              </a:lnSpc>
              <a:spcBef>
                <a:spcPts val="320"/>
              </a:spcBef>
              <a:spcAft>
                <a:spcPts val="0"/>
              </a:spcAft>
              <a:buNone/>
            </a:pPr>
            <a:r>
              <a:rPr lang="en-US" sz="1750">
                <a:solidFill>
                  <a:srgbClr val="404040"/>
                </a:solidFill>
                <a:latin typeface="Calibri"/>
                <a:ea typeface="Calibri"/>
                <a:cs typeface="Calibri"/>
                <a:sym typeface="Calibri"/>
              </a:rPr>
              <a:t>Massive Cost Savings: Eliminates manual survey field visits, cutting operational costs by</a:t>
            </a:r>
            <a:endParaRPr sz="1750">
              <a:latin typeface="Calibri"/>
              <a:ea typeface="Calibri"/>
              <a:cs typeface="Calibri"/>
              <a:sym typeface="Calibri"/>
            </a:endParaRPr>
          </a:p>
          <a:p>
            <a:pPr indent="0" lvl="0" marL="316230" rtl="0" algn="l">
              <a:lnSpc>
                <a:spcPct val="100000"/>
              </a:lnSpc>
              <a:spcBef>
                <a:spcPts val="315"/>
              </a:spcBef>
              <a:spcAft>
                <a:spcPts val="0"/>
              </a:spcAft>
              <a:buNone/>
            </a:pPr>
            <a:r>
              <a:rPr lang="en-US" sz="1750">
                <a:solidFill>
                  <a:srgbClr val="404040"/>
                </a:solidFill>
                <a:latin typeface="Calibri"/>
                <a:ea typeface="Calibri"/>
                <a:cs typeface="Calibri"/>
                <a:sym typeface="Calibri"/>
              </a:rPr>
              <a:t>~90%.</a:t>
            </a:r>
            <a:endParaRPr sz="1750">
              <a:latin typeface="Calibri"/>
              <a:ea typeface="Calibri"/>
              <a:cs typeface="Calibri"/>
              <a:sym typeface="Calibri"/>
            </a:endParaRPr>
          </a:p>
          <a:p>
            <a:pPr indent="0" lvl="0" marL="316230" marR="858519" rtl="0" algn="l">
              <a:lnSpc>
                <a:spcPct val="115999"/>
              </a:lnSpc>
              <a:spcBef>
                <a:spcPts val="0"/>
              </a:spcBef>
              <a:spcAft>
                <a:spcPts val="0"/>
              </a:spcAft>
              <a:buNone/>
            </a:pPr>
            <a:r>
              <a:rPr lang="en-US" sz="1750">
                <a:solidFill>
                  <a:srgbClr val="404040"/>
                </a:solidFill>
                <a:latin typeface="Calibri"/>
                <a:ea typeface="Calibri"/>
                <a:cs typeface="Calibri"/>
                <a:sym typeface="Calibri"/>
              </a:rPr>
              <a:t>Cloud-Ready: Lightweight containerized setup (Docker) deployable on NIC/MeghRaj government cloud.</a:t>
            </a:r>
            <a:endParaRPr sz="1750">
              <a:latin typeface="Calibri"/>
              <a:ea typeface="Calibri"/>
              <a:cs typeface="Calibri"/>
              <a:sym typeface="Calibri"/>
            </a:endParaRPr>
          </a:p>
          <a:p>
            <a:pPr indent="-215265" lvl="0" marL="269875" rtl="0" algn="l">
              <a:lnSpc>
                <a:spcPct val="100000"/>
              </a:lnSpc>
              <a:spcBef>
                <a:spcPts val="320"/>
              </a:spcBef>
              <a:spcAft>
                <a:spcPts val="0"/>
              </a:spcAft>
              <a:buClr>
                <a:srgbClr val="404040"/>
              </a:buClr>
              <a:buSzPts val="1750"/>
              <a:buFont typeface="Calibri"/>
              <a:buAutoNum type="arabicPeriod" startAt="3"/>
            </a:pPr>
            <a:r>
              <a:rPr b="1" lang="en-US" sz="1750">
                <a:solidFill>
                  <a:srgbClr val="404040"/>
                </a:solidFill>
                <a:latin typeface="Calibri"/>
                <a:ea typeface="Calibri"/>
                <a:cs typeface="Calibri"/>
                <a:sym typeface="Calibri"/>
              </a:rPr>
              <a:t>Operational Feasibility</a:t>
            </a:r>
            <a:endParaRPr sz="1750">
              <a:latin typeface="Calibri"/>
              <a:ea typeface="Calibri"/>
              <a:cs typeface="Calibri"/>
              <a:sym typeface="Calibri"/>
            </a:endParaRPr>
          </a:p>
          <a:p>
            <a:pPr indent="0" lvl="0" marL="316230" marR="70485" rtl="0" algn="l">
              <a:lnSpc>
                <a:spcPct val="115999"/>
              </a:lnSpc>
              <a:spcBef>
                <a:spcPts val="0"/>
              </a:spcBef>
              <a:spcAft>
                <a:spcPts val="0"/>
              </a:spcAft>
              <a:buNone/>
            </a:pPr>
            <a:r>
              <a:rPr lang="en-US" sz="1750">
                <a:solidFill>
                  <a:srgbClr val="404040"/>
                </a:solidFill>
                <a:latin typeface="Calibri"/>
                <a:ea typeface="Calibri"/>
                <a:cs typeface="Calibri"/>
                <a:sym typeface="Calibri"/>
              </a:rPr>
              <a:t>Zero Coding Needed: Statisticians tune CPI weights &amp; toggle formulas via intuitive UI sliders. Human-in-the-Loop: Outlier Audit Hub lets officers review &amp; override flagged anomalies with mandatory audit notes.</a:t>
            </a:r>
            <a:endParaRPr sz="1750">
              <a:latin typeface="Calibri"/>
              <a:ea typeface="Calibri"/>
              <a:cs typeface="Calibri"/>
              <a:sym typeface="Calibri"/>
            </a:endParaRPr>
          </a:p>
          <a:p>
            <a:pPr indent="0" lvl="0" marL="316230" rtl="0" algn="l">
              <a:lnSpc>
                <a:spcPct val="100000"/>
              </a:lnSpc>
              <a:spcBef>
                <a:spcPts val="315"/>
              </a:spcBef>
              <a:spcAft>
                <a:spcPts val="0"/>
              </a:spcAft>
              <a:buNone/>
            </a:pPr>
            <a:r>
              <a:rPr lang="en-US" sz="1750">
                <a:solidFill>
                  <a:srgbClr val="404040"/>
                </a:solidFill>
                <a:latin typeface="Calibri"/>
                <a:ea typeface="Calibri"/>
                <a:cs typeface="Calibri"/>
                <a:sym typeface="Calibri"/>
              </a:rPr>
              <a:t>Plug-and-Play APIs: Delivers token-secured REST feeds directly to RBI &amp; MoCA dashboards.</a:t>
            </a:r>
            <a:endParaRPr sz="1750">
              <a:latin typeface="Calibri"/>
              <a:ea typeface="Calibri"/>
              <a:cs typeface="Calibri"/>
              <a:sym typeface="Calibri"/>
            </a:endParaRPr>
          </a:p>
          <a:p>
            <a:pPr indent="-215900" lvl="0" marL="270510" rtl="0" algn="l">
              <a:lnSpc>
                <a:spcPct val="100000"/>
              </a:lnSpc>
              <a:spcBef>
                <a:spcPts val="320"/>
              </a:spcBef>
              <a:spcAft>
                <a:spcPts val="0"/>
              </a:spcAft>
              <a:buClr>
                <a:srgbClr val="404040"/>
              </a:buClr>
              <a:buSzPts val="1750"/>
              <a:buFont typeface="Calibri"/>
              <a:buAutoNum type="arabicPeriod" startAt="4"/>
            </a:pPr>
            <a:r>
              <a:rPr b="1" lang="en-US" sz="1750">
                <a:solidFill>
                  <a:srgbClr val="404040"/>
                </a:solidFill>
                <a:latin typeface="Calibri"/>
                <a:ea typeface="Calibri"/>
                <a:cs typeface="Calibri"/>
                <a:sym typeface="Calibri"/>
              </a:rPr>
              <a:t>Legal &amp; Ethical Feasibilit</a:t>
            </a:r>
            <a:r>
              <a:rPr lang="en-US" sz="1750">
                <a:solidFill>
                  <a:srgbClr val="404040"/>
                </a:solidFill>
                <a:latin typeface="Calibri"/>
                <a:ea typeface="Calibri"/>
                <a:cs typeface="Calibri"/>
                <a:sym typeface="Calibri"/>
              </a:rPr>
              <a:t>y</a:t>
            </a:r>
            <a:endParaRPr sz="1750">
              <a:latin typeface="Calibri"/>
              <a:ea typeface="Calibri"/>
              <a:cs typeface="Calibri"/>
              <a:sym typeface="Calibri"/>
            </a:endParaRPr>
          </a:p>
          <a:p>
            <a:pPr indent="0" lvl="0" marL="316230" marR="78105" rtl="0" algn="l">
              <a:lnSpc>
                <a:spcPct val="115999"/>
              </a:lnSpc>
              <a:spcBef>
                <a:spcPts val="0"/>
              </a:spcBef>
              <a:spcAft>
                <a:spcPts val="0"/>
              </a:spcAft>
              <a:buNone/>
            </a:pPr>
            <a:r>
              <a:rPr lang="en-US" sz="1750">
                <a:solidFill>
                  <a:srgbClr val="404040"/>
                </a:solidFill>
                <a:latin typeface="Calibri"/>
                <a:ea typeface="Calibri"/>
                <a:cs typeface="Calibri"/>
                <a:sym typeface="Calibri"/>
              </a:rPr>
              <a:t>Strict Compliance: Adheres to robots.txt and rate-limiting (10 req/min) to avoid target server load.</a:t>
            </a:r>
            <a:endParaRPr sz="1750">
              <a:latin typeface="Calibri"/>
              <a:ea typeface="Calibri"/>
              <a:cs typeface="Calibri"/>
              <a:sym typeface="Calibri"/>
            </a:endParaRPr>
          </a:p>
          <a:p>
            <a:pPr indent="0" lvl="0" marL="316230" marR="225425" rtl="0" algn="l">
              <a:lnSpc>
                <a:spcPct val="115999"/>
              </a:lnSpc>
              <a:spcBef>
                <a:spcPts val="0"/>
              </a:spcBef>
              <a:spcAft>
                <a:spcPts val="0"/>
              </a:spcAft>
              <a:buNone/>
            </a:pPr>
            <a:r>
              <a:rPr lang="en-US" sz="1750">
                <a:solidFill>
                  <a:srgbClr val="404040"/>
                </a:solidFill>
                <a:latin typeface="Calibri"/>
                <a:ea typeface="Calibri"/>
                <a:cs typeface="Calibri"/>
                <a:sym typeface="Calibri"/>
              </a:rPr>
              <a:t>Public Data Only: Scrapes only unauthenticated public fare quotes—zero PII or private data involved.</a:t>
            </a:r>
            <a:endParaRPr sz="1750">
              <a:latin typeface="Calibri"/>
              <a:ea typeface="Calibri"/>
              <a:cs typeface="Calibri"/>
              <a:sym typeface="Calibri"/>
            </a:endParaRPr>
          </a:p>
        </p:txBody>
      </p:sp>
      <p:sp>
        <p:nvSpPr>
          <p:cNvPr id="135" name="Google Shape;135;p10"/>
          <p:cNvSpPr/>
          <p:nvPr/>
        </p:nvSpPr>
        <p:spPr>
          <a:xfrm>
            <a:off x="9382620" y="2919104"/>
            <a:ext cx="59055" cy="59055"/>
          </a:xfrm>
          <a:custGeom>
            <a:rect b="b" l="l" r="r" t="t"/>
            <a:pathLst>
              <a:path extrusionOk="0" h="59055" w="59054">
                <a:moveTo>
                  <a:pt x="33443" y="59054"/>
                </a:moveTo>
                <a:lnTo>
                  <a:pt x="25611" y="59054"/>
                </a:lnTo>
                <a:lnTo>
                  <a:pt x="21845" y="58305"/>
                </a:lnTo>
                <a:lnTo>
                  <a:pt x="0" y="33443"/>
                </a:lnTo>
                <a:lnTo>
                  <a:pt x="0" y="25611"/>
                </a:lnTo>
                <a:lnTo>
                  <a:pt x="25611" y="0"/>
                </a:lnTo>
                <a:lnTo>
                  <a:pt x="33443" y="0"/>
                </a:lnTo>
                <a:lnTo>
                  <a:pt x="59055" y="29527"/>
                </a:lnTo>
                <a:lnTo>
                  <a:pt x="59054" y="33443"/>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 name="Google Shape;136;p10"/>
          <p:cNvSpPr/>
          <p:nvPr/>
        </p:nvSpPr>
        <p:spPr>
          <a:xfrm>
            <a:off x="9382620" y="3529339"/>
            <a:ext cx="59055" cy="59055"/>
          </a:xfrm>
          <a:custGeom>
            <a:rect b="b" l="l" r="r" t="t"/>
            <a:pathLst>
              <a:path extrusionOk="0" h="59054" w="59054">
                <a:moveTo>
                  <a:pt x="33443" y="59054"/>
                </a:moveTo>
                <a:lnTo>
                  <a:pt x="25611" y="59054"/>
                </a:lnTo>
                <a:lnTo>
                  <a:pt x="21845" y="58305"/>
                </a:lnTo>
                <a:lnTo>
                  <a:pt x="0" y="33443"/>
                </a:lnTo>
                <a:lnTo>
                  <a:pt x="0" y="25611"/>
                </a:lnTo>
                <a:lnTo>
                  <a:pt x="25611" y="0"/>
                </a:lnTo>
                <a:lnTo>
                  <a:pt x="33443" y="0"/>
                </a:lnTo>
                <a:lnTo>
                  <a:pt x="59055" y="29527"/>
                </a:lnTo>
                <a:lnTo>
                  <a:pt x="59054" y="33443"/>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7" name="Google Shape;137;p10"/>
          <p:cNvSpPr/>
          <p:nvPr/>
        </p:nvSpPr>
        <p:spPr>
          <a:xfrm>
            <a:off x="9382620" y="4749809"/>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10"/>
          <p:cNvSpPr/>
          <p:nvPr/>
        </p:nvSpPr>
        <p:spPr>
          <a:xfrm>
            <a:off x="9382620" y="5360044"/>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10"/>
          <p:cNvSpPr/>
          <p:nvPr/>
        </p:nvSpPr>
        <p:spPr>
          <a:xfrm>
            <a:off x="9382620" y="6580513"/>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0" name="Google Shape;140;p10"/>
          <p:cNvSpPr/>
          <p:nvPr/>
        </p:nvSpPr>
        <p:spPr>
          <a:xfrm>
            <a:off x="9382620" y="7190749"/>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 name="Google Shape;141;p10"/>
          <p:cNvSpPr/>
          <p:nvPr/>
        </p:nvSpPr>
        <p:spPr>
          <a:xfrm>
            <a:off x="9382620" y="7495866"/>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10"/>
          <p:cNvSpPr/>
          <p:nvPr/>
        </p:nvSpPr>
        <p:spPr>
          <a:xfrm>
            <a:off x="9382620" y="7800984"/>
            <a:ext cx="59055" cy="59055"/>
          </a:xfrm>
          <a:custGeom>
            <a:rect b="b" l="l" r="r" t="t"/>
            <a:pathLst>
              <a:path extrusionOk="0" h="59054" w="59054">
                <a:moveTo>
                  <a:pt x="33443" y="59054"/>
                </a:moveTo>
                <a:lnTo>
                  <a:pt x="25611" y="59054"/>
                </a:lnTo>
                <a:lnTo>
                  <a:pt x="21845" y="58305"/>
                </a:lnTo>
                <a:lnTo>
                  <a:pt x="0" y="33443"/>
                </a:lnTo>
                <a:lnTo>
                  <a:pt x="0" y="25611"/>
                </a:lnTo>
                <a:lnTo>
                  <a:pt x="25611" y="0"/>
                </a:lnTo>
                <a:lnTo>
                  <a:pt x="33443" y="0"/>
                </a:lnTo>
                <a:lnTo>
                  <a:pt x="59055" y="29527"/>
                </a:lnTo>
                <a:lnTo>
                  <a:pt x="59054" y="33443"/>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3" name="Google Shape;143;p10"/>
          <p:cNvSpPr/>
          <p:nvPr/>
        </p:nvSpPr>
        <p:spPr>
          <a:xfrm>
            <a:off x="9382620" y="8716336"/>
            <a:ext cx="59055" cy="59055"/>
          </a:xfrm>
          <a:custGeom>
            <a:rect b="b" l="l" r="r" t="t"/>
            <a:pathLst>
              <a:path extrusionOk="0" h="59054" w="59054">
                <a:moveTo>
                  <a:pt x="33443" y="59054"/>
                </a:moveTo>
                <a:lnTo>
                  <a:pt x="25611" y="59054"/>
                </a:lnTo>
                <a:lnTo>
                  <a:pt x="21845" y="58305"/>
                </a:lnTo>
                <a:lnTo>
                  <a:pt x="0" y="33442"/>
                </a:lnTo>
                <a:lnTo>
                  <a:pt x="0" y="25611"/>
                </a:lnTo>
                <a:lnTo>
                  <a:pt x="25611" y="0"/>
                </a:lnTo>
                <a:lnTo>
                  <a:pt x="33443" y="0"/>
                </a:lnTo>
                <a:lnTo>
                  <a:pt x="59055" y="29527"/>
                </a:lnTo>
                <a:lnTo>
                  <a:pt x="59054" y="33442"/>
                </a:lnTo>
                <a:lnTo>
                  <a:pt x="33443" y="5905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4" name="Google Shape;144;p10"/>
          <p:cNvSpPr txBox="1"/>
          <p:nvPr/>
        </p:nvSpPr>
        <p:spPr>
          <a:xfrm>
            <a:off x="9273494" y="2420184"/>
            <a:ext cx="8409300" cy="7124700"/>
          </a:xfrm>
          <a:prstGeom prst="rect">
            <a:avLst/>
          </a:prstGeom>
          <a:noFill/>
          <a:ln>
            <a:noFill/>
          </a:ln>
        </p:spPr>
        <p:txBody>
          <a:bodyPr anchorCtr="0" anchor="t" bIns="0" lIns="0" spcFirstLastPara="1" rIns="0" wrap="square" tIns="50150">
            <a:spAutoFit/>
          </a:bodyPr>
          <a:lstStyle/>
          <a:p>
            <a:pPr indent="-232410" lvl="0" marL="238760" rtl="0" algn="l">
              <a:lnSpc>
                <a:spcPct val="100000"/>
              </a:lnSpc>
              <a:spcBef>
                <a:spcPts val="0"/>
              </a:spcBef>
              <a:spcAft>
                <a:spcPts val="0"/>
              </a:spcAft>
              <a:buClr>
                <a:srgbClr val="404040"/>
              </a:buClr>
              <a:buSzPts val="1850"/>
              <a:buFont typeface="Calibri"/>
              <a:buAutoNum type="arabicPeriod"/>
            </a:pPr>
            <a:r>
              <a:rPr b="1" lang="en-US" sz="1850">
                <a:solidFill>
                  <a:srgbClr val="404040"/>
                </a:solidFill>
                <a:latin typeface="Calibri"/>
                <a:ea typeface="Calibri"/>
                <a:cs typeface="Calibri"/>
                <a:sym typeface="Calibri"/>
              </a:rPr>
              <a:t>Long-Term Strategic Viability</a:t>
            </a:r>
            <a:endParaRPr sz="1850">
              <a:latin typeface="Calibri"/>
              <a:ea typeface="Calibri"/>
              <a:cs typeface="Calibri"/>
              <a:sym typeface="Calibri"/>
            </a:endParaRPr>
          </a:p>
          <a:p>
            <a:pPr indent="0" lvl="0" marL="283845" marR="5080" rtl="0" algn="l">
              <a:lnSpc>
                <a:spcPct val="114399"/>
              </a:lnSpc>
              <a:spcBef>
                <a:spcPts val="0"/>
              </a:spcBef>
              <a:spcAft>
                <a:spcPts val="0"/>
              </a:spcAft>
              <a:buNone/>
            </a:pPr>
            <a:r>
              <a:rPr lang="en-US" sz="1850">
                <a:solidFill>
                  <a:srgbClr val="404040"/>
                </a:solidFill>
                <a:latin typeface="Calibri"/>
                <a:ea typeface="Calibri"/>
                <a:cs typeface="Calibri"/>
                <a:sym typeface="Calibri"/>
              </a:rPr>
              <a:t>Government Alignment: Perfectly aligns with the Digital India and Data-Driven Governance mandates by modernizing NSO's 60-year-old manual CPI collection method. Critical National Utility: Directly empowers the Reserve Bank of India (RBI) Monetary Policy Committee with high-frequency inflation data to set accurate national interest (repo) rates.</a:t>
            </a:r>
            <a:endParaRPr sz="1850">
              <a:latin typeface="Calibri"/>
              <a:ea typeface="Calibri"/>
              <a:cs typeface="Calibri"/>
              <a:sym typeface="Calibri"/>
            </a:endParaRPr>
          </a:p>
          <a:p>
            <a:pPr indent="-232410" lvl="0" marL="289560" rtl="0" algn="l">
              <a:lnSpc>
                <a:spcPct val="100000"/>
              </a:lnSpc>
              <a:spcBef>
                <a:spcPts val="300"/>
              </a:spcBef>
              <a:spcAft>
                <a:spcPts val="0"/>
              </a:spcAft>
              <a:buClr>
                <a:srgbClr val="404040"/>
              </a:buClr>
              <a:buSzPts val="1850"/>
              <a:buFont typeface="Calibri"/>
              <a:buAutoNum type="arabicPeriod" startAt="2"/>
            </a:pPr>
            <a:r>
              <a:rPr b="1" lang="en-US" sz="1850">
                <a:solidFill>
                  <a:srgbClr val="404040"/>
                </a:solidFill>
                <a:latin typeface="Calibri"/>
                <a:ea typeface="Calibri"/>
                <a:cs typeface="Calibri"/>
                <a:sym typeface="Calibri"/>
              </a:rPr>
              <a:t>Financial &amp; Resource Sustainability</a:t>
            </a:r>
            <a:endParaRPr sz="1850">
              <a:latin typeface="Calibri"/>
              <a:ea typeface="Calibri"/>
              <a:cs typeface="Calibri"/>
              <a:sym typeface="Calibri"/>
            </a:endParaRPr>
          </a:p>
          <a:p>
            <a:pPr indent="0" lvl="0" marL="283845" marR="555625" rtl="0" algn="l">
              <a:lnSpc>
                <a:spcPct val="114399"/>
              </a:lnSpc>
              <a:spcBef>
                <a:spcPts val="0"/>
              </a:spcBef>
              <a:spcAft>
                <a:spcPts val="0"/>
              </a:spcAft>
              <a:buNone/>
            </a:pPr>
            <a:r>
              <a:rPr lang="en-US" sz="1850">
                <a:solidFill>
                  <a:srgbClr val="404040"/>
                </a:solidFill>
                <a:latin typeface="Calibri"/>
                <a:ea typeface="Calibri"/>
                <a:cs typeface="Calibri"/>
                <a:sym typeface="Calibri"/>
              </a:rPr>
              <a:t>Zero Recurring Licensing Fees: Avoids costly commercial aviation API subscriptions (Amadeus/IATA) by leveraging open-source stealth extraction.</a:t>
            </a:r>
            <a:endParaRPr sz="1850">
              <a:latin typeface="Calibri"/>
              <a:ea typeface="Calibri"/>
              <a:cs typeface="Calibri"/>
              <a:sym typeface="Calibri"/>
            </a:endParaRPr>
          </a:p>
          <a:p>
            <a:pPr indent="0" lvl="0" marL="283845" marR="751840" rtl="0" algn="l">
              <a:lnSpc>
                <a:spcPct val="114399"/>
              </a:lnSpc>
              <a:spcBef>
                <a:spcPts val="0"/>
              </a:spcBef>
              <a:spcAft>
                <a:spcPts val="0"/>
              </a:spcAft>
              <a:buNone/>
            </a:pPr>
            <a:r>
              <a:rPr lang="en-US" sz="1850">
                <a:solidFill>
                  <a:srgbClr val="404040"/>
                </a:solidFill>
                <a:latin typeface="Calibri"/>
                <a:ea typeface="Calibri"/>
                <a:cs typeface="Calibri"/>
                <a:sym typeface="Calibri"/>
              </a:rPr>
              <a:t>Low Maintenance Overhead: Automated pipeline requires minimal technical intervention, allowing small NSO IT teams to manage national-scale deployment effortlessly.</a:t>
            </a:r>
            <a:endParaRPr sz="1850">
              <a:latin typeface="Calibri"/>
              <a:ea typeface="Calibri"/>
              <a:cs typeface="Calibri"/>
              <a:sym typeface="Calibri"/>
            </a:endParaRPr>
          </a:p>
          <a:p>
            <a:pPr indent="-232410" lvl="0" marL="340995" rtl="0" algn="l">
              <a:lnSpc>
                <a:spcPct val="100000"/>
              </a:lnSpc>
              <a:spcBef>
                <a:spcPts val="305"/>
              </a:spcBef>
              <a:spcAft>
                <a:spcPts val="0"/>
              </a:spcAft>
              <a:buClr>
                <a:srgbClr val="404040"/>
              </a:buClr>
              <a:buSzPts val="1850"/>
              <a:buFont typeface="Calibri"/>
              <a:buAutoNum type="arabicPeriod" startAt="3"/>
            </a:pPr>
            <a:r>
              <a:rPr b="1" lang="en-US" sz="1850">
                <a:solidFill>
                  <a:srgbClr val="404040"/>
                </a:solidFill>
                <a:latin typeface="Calibri"/>
                <a:ea typeface="Calibri"/>
                <a:cs typeface="Calibri"/>
                <a:sym typeface="Calibri"/>
              </a:rPr>
              <a:t>Market &amp; Institutional Adoptio</a:t>
            </a:r>
            <a:r>
              <a:rPr lang="en-US" sz="1850">
                <a:solidFill>
                  <a:srgbClr val="404040"/>
                </a:solidFill>
                <a:latin typeface="Calibri"/>
                <a:ea typeface="Calibri"/>
                <a:cs typeface="Calibri"/>
                <a:sym typeface="Calibri"/>
              </a:rPr>
              <a:t>n</a:t>
            </a:r>
            <a:endParaRPr sz="1850">
              <a:latin typeface="Calibri"/>
              <a:ea typeface="Calibri"/>
              <a:cs typeface="Calibri"/>
              <a:sym typeface="Calibri"/>
            </a:endParaRPr>
          </a:p>
          <a:p>
            <a:pPr indent="0" lvl="0" marL="283845" marR="1388110" rtl="0" algn="l">
              <a:lnSpc>
                <a:spcPct val="114399"/>
              </a:lnSpc>
              <a:spcBef>
                <a:spcPts val="0"/>
              </a:spcBef>
              <a:spcAft>
                <a:spcPts val="0"/>
              </a:spcAft>
              <a:buNone/>
            </a:pPr>
            <a:r>
              <a:rPr lang="en-US" sz="1850">
                <a:solidFill>
                  <a:srgbClr val="404040"/>
                </a:solidFill>
                <a:latin typeface="Calibri"/>
                <a:ea typeface="Calibri"/>
                <a:cs typeface="Calibri"/>
                <a:sym typeface="Calibri"/>
              </a:rPr>
              <a:t>High Inter-Ministerial Demand: Serves multiple government stakeholders simultaneously:</a:t>
            </a:r>
            <a:endParaRPr sz="1850">
              <a:latin typeface="Calibri"/>
              <a:ea typeface="Calibri"/>
              <a:cs typeface="Calibri"/>
              <a:sym typeface="Calibri"/>
            </a:endParaRPr>
          </a:p>
          <a:p>
            <a:pPr indent="0" lvl="0" marL="283845" rtl="0" algn="l">
              <a:lnSpc>
                <a:spcPct val="100000"/>
              </a:lnSpc>
              <a:spcBef>
                <a:spcPts val="300"/>
              </a:spcBef>
              <a:spcAft>
                <a:spcPts val="0"/>
              </a:spcAft>
              <a:buNone/>
            </a:pPr>
            <a:r>
              <a:rPr lang="en-US" sz="1850">
                <a:solidFill>
                  <a:srgbClr val="404040"/>
                </a:solidFill>
                <a:latin typeface="Calibri"/>
                <a:ea typeface="Calibri"/>
                <a:cs typeface="Calibri"/>
                <a:sym typeface="Calibri"/>
              </a:rPr>
              <a:t>MoSPI / NSO: Official CPI inflation reporting.</a:t>
            </a:r>
            <a:endParaRPr sz="1850">
              <a:latin typeface="Calibri"/>
              <a:ea typeface="Calibri"/>
              <a:cs typeface="Calibri"/>
              <a:sym typeface="Calibri"/>
            </a:endParaRPr>
          </a:p>
          <a:p>
            <a:pPr indent="0" lvl="0" marL="283845" rtl="0" algn="l">
              <a:lnSpc>
                <a:spcPct val="100000"/>
              </a:lnSpc>
              <a:spcBef>
                <a:spcPts val="305"/>
              </a:spcBef>
              <a:spcAft>
                <a:spcPts val="0"/>
              </a:spcAft>
              <a:buNone/>
            </a:pPr>
            <a:r>
              <a:rPr lang="en-US" sz="1850">
                <a:solidFill>
                  <a:srgbClr val="404040"/>
                </a:solidFill>
                <a:latin typeface="Calibri"/>
                <a:ea typeface="Calibri"/>
                <a:cs typeface="Calibri"/>
                <a:sym typeface="Calibri"/>
              </a:rPr>
              <a:t>MoCA &amp; DGCA: Monitoring surge pricing during disasters or festival seasons.</a:t>
            </a:r>
            <a:endParaRPr sz="1850">
              <a:latin typeface="Calibri"/>
              <a:ea typeface="Calibri"/>
              <a:cs typeface="Calibri"/>
              <a:sym typeface="Calibri"/>
            </a:endParaRPr>
          </a:p>
          <a:p>
            <a:pPr indent="0" lvl="0" marL="283845" marR="518159" rtl="0" algn="l">
              <a:lnSpc>
                <a:spcPct val="114399"/>
              </a:lnSpc>
              <a:spcBef>
                <a:spcPts val="0"/>
              </a:spcBef>
              <a:spcAft>
                <a:spcPts val="0"/>
              </a:spcAft>
              <a:buNone/>
            </a:pPr>
            <a:r>
              <a:rPr lang="en-US" sz="1850">
                <a:solidFill>
                  <a:srgbClr val="404040"/>
                </a:solidFill>
                <a:latin typeface="Calibri"/>
                <a:ea typeface="Calibri"/>
                <a:cs typeface="Calibri"/>
                <a:sym typeface="Calibri"/>
              </a:rPr>
              <a:t>CCI (Competition Commission): Detecting potential airline cartelization on duopoly routes.</a:t>
            </a:r>
            <a:endParaRPr sz="1850">
              <a:latin typeface="Calibri"/>
              <a:ea typeface="Calibri"/>
              <a:cs typeface="Calibri"/>
              <a:sym typeface="Calibri"/>
            </a:endParaRPr>
          </a:p>
          <a:p>
            <a:pPr indent="-232410" lvl="0" marL="340995" rtl="0" algn="l">
              <a:lnSpc>
                <a:spcPct val="100000"/>
              </a:lnSpc>
              <a:spcBef>
                <a:spcPts val="305"/>
              </a:spcBef>
              <a:spcAft>
                <a:spcPts val="0"/>
              </a:spcAft>
              <a:buClr>
                <a:srgbClr val="404040"/>
              </a:buClr>
              <a:buSzPts val="1850"/>
              <a:buFont typeface="Calibri"/>
              <a:buAutoNum type="arabicPeriod" startAt="4"/>
            </a:pPr>
            <a:r>
              <a:rPr b="1" lang="en-US" sz="1850">
                <a:solidFill>
                  <a:srgbClr val="404040"/>
                </a:solidFill>
                <a:latin typeface="Calibri"/>
                <a:ea typeface="Calibri"/>
                <a:cs typeface="Calibri"/>
                <a:sym typeface="Calibri"/>
              </a:rPr>
              <a:t>Scalability &amp; Extensibility</a:t>
            </a:r>
            <a:endParaRPr sz="1850">
              <a:latin typeface="Calibri"/>
              <a:ea typeface="Calibri"/>
              <a:cs typeface="Calibri"/>
              <a:sym typeface="Calibri"/>
            </a:endParaRPr>
          </a:p>
          <a:p>
            <a:pPr indent="0" lvl="0" marL="283845" marR="169545" rtl="0" algn="l">
              <a:lnSpc>
                <a:spcPct val="114399"/>
              </a:lnSpc>
              <a:spcBef>
                <a:spcPts val="0"/>
              </a:spcBef>
              <a:spcAft>
                <a:spcPts val="0"/>
              </a:spcAft>
              <a:buNone/>
            </a:pPr>
            <a:r>
              <a:rPr lang="en-US" sz="1850">
                <a:solidFill>
                  <a:srgbClr val="404040"/>
                </a:solidFill>
                <a:latin typeface="Calibri"/>
                <a:ea typeface="Calibri"/>
                <a:cs typeface="Calibri"/>
                <a:sym typeface="Calibri"/>
              </a:rPr>
              <a:t>Nationwide Sector Expansion: Modular architecture seamlessly scales from 6 corridors to 1,500+ domestic routes, including subsidized UDAN regional flights.</a:t>
            </a:r>
            <a:endParaRPr sz="1850">
              <a:latin typeface="Calibri"/>
              <a:ea typeface="Calibri"/>
              <a:cs typeface="Calibri"/>
              <a:sym typeface="Calibri"/>
            </a:endParaRPr>
          </a:p>
        </p:txBody>
      </p:sp>
      <p:sp>
        <p:nvSpPr>
          <p:cNvPr id="145" name="Google Shape;145;p10"/>
          <p:cNvSpPr/>
          <p:nvPr/>
        </p:nvSpPr>
        <p:spPr>
          <a:xfrm>
            <a:off x="8710641" y="3489699"/>
            <a:ext cx="587375" cy="6079490"/>
          </a:xfrm>
          <a:custGeom>
            <a:rect b="b" l="l" r="r" t="t"/>
            <a:pathLst>
              <a:path extrusionOk="0" h="6079490" w="587375">
                <a:moveTo>
                  <a:pt x="121263" y="0"/>
                </a:moveTo>
                <a:lnTo>
                  <a:pt x="162714" y="18159"/>
                </a:lnTo>
                <a:lnTo>
                  <a:pt x="197258" y="42875"/>
                </a:lnTo>
                <a:lnTo>
                  <a:pt x="225530" y="73275"/>
                </a:lnTo>
                <a:lnTo>
                  <a:pt x="248167" y="108491"/>
                </a:lnTo>
                <a:lnTo>
                  <a:pt x="265807" y="147652"/>
                </a:lnTo>
                <a:lnTo>
                  <a:pt x="279086" y="189889"/>
                </a:lnTo>
                <a:lnTo>
                  <a:pt x="288640" y="234330"/>
                </a:lnTo>
                <a:lnTo>
                  <a:pt x="295107" y="280106"/>
                </a:lnTo>
                <a:lnTo>
                  <a:pt x="299123" y="326348"/>
                </a:lnTo>
                <a:lnTo>
                  <a:pt x="301325" y="372184"/>
                </a:lnTo>
                <a:lnTo>
                  <a:pt x="302350" y="416745"/>
                </a:lnTo>
                <a:lnTo>
                  <a:pt x="303414" y="498561"/>
                </a:lnTo>
                <a:lnTo>
                  <a:pt x="338883" y="2016437"/>
                </a:lnTo>
                <a:lnTo>
                  <a:pt x="353302" y="2522067"/>
                </a:lnTo>
                <a:lnTo>
                  <a:pt x="365346" y="2875846"/>
                </a:lnTo>
                <a:lnTo>
                  <a:pt x="407343" y="2897004"/>
                </a:lnTo>
                <a:lnTo>
                  <a:pt x="572998" y="2981638"/>
                </a:lnTo>
                <a:lnTo>
                  <a:pt x="586584" y="2997275"/>
                </a:lnTo>
                <a:lnTo>
                  <a:pt x="586963" y="3017358"/>
                </a:lnTo>
                <a:lnTo>
                  <a:pt x="576414" y="3034477"/>
                </a:lnTo>
                <a:lnTo>
                  <a:pt x="557212" y="3041222"/>
                </a:lnTo>
                <a:lnTo>
                  <a:pt x="508327" y="3045123"/>
                </a:lnTo>
                <a:lnTo>
                  <a:pt x="463115" y="3061340"/>
                </a:lnTo>
                <a:lnTo>
                  <a:pt x="422915" y="3087888"/>
                </a:lnTo>
                <a:lnTo>
                  <a:pt x="389069" y="3122782"/>
                </a:lnTo>
                <a:lnTo>
                  <a:pt x="362917" y="3164039"/>
                </a:lnTo>
                <a:lnTo>
                  <a:pt x="344500" y="3209543"/>
                </a:lnTo>
                <a:lnTo>
                  <a:pt x="332154" y="3256905"/>
                </a:lnTo>
                <a:lnTo>
                  <a:pt x="324665" y="3305551"/>
                </a:lnTo>
                <a:lnTo>
                  <a:pt x="320820" y="3354906"/>
                </a:lnTo>
                <a:lnTo>
                  <a:pt x="319403" y="3404396"/>
                </a:lnTo>
                <a:lnTo>
                  <a:pt x="317987" y="4102793"/>
                </a:lnTo>
                <a:lnTo>
                  <a:pt x="316772" y="5305419"/>
                </a:lnTo>
                <a:lnTo>
                  <a:pt x="316772" y="5606988"/>
                </a:lnTo>
                <a:lnTo>
                  <a:pt x="317666" y="5712226"/>
                </a:lnTo>
                <a:lnTo>
                  <a:pt x="316510" y="5765282"/>
                </a:lnTo>
                <a:lnTo>
                  <a:pt x="312265" y="5817930"/>
                </a:lnTo>
                <a:lnTo>
                  <a:pt x="303414" y="5869645"/>
                </a:lnTo>
                <a:lnTo>
                  <a:pt x="287267" y="5922560"/>
                </a:lnTo>
                <a:lnTo>
                  <a:pt x="263493" y="5971941"/>
                </a:lnTo>
                <a:lnTo>
                  <a:pt x="230838" y="6015166"/>
                </a:lnTo>
                <a:lnTo>
                  <a:pt x="188052" y="6049613"/>
                </a:lnTo>
                <a:lnTo>
                  <a:pt x="143899" y="6069753"/>
                </a:lnTo>
                <a:lnTo>
                  <a:pt x="98039" y="6079405"/>
                </a:lnTo>
                <a:lnTo>
                  <a:pt x="51951" y="6076289"/>
                </a:lnTo>
                <a:lnTo>
                  <a:pt x="7115" y="6058125"/>
                </a:lnTo>
                <a:lnTo>
                  <a:pt x="0" y="6048207"/>
                </a:lnTo>
                <a:lnTo>
                  <a:pt x="1195" y="6036237"/>
                </a:lnTo>
                <a:lnTo>
                  <a:pt x="8993" y="6027003"/>
                </a:lnTo>
                <a:lnTo>
                  <a:pt x="21687" y="6025293"/>
                </a:lnTo>
                <a:lnTo>
                  <a:pt x="66647" y="6035887"/>
                </a:lnTo>
                <a:lnTo>
                  <a:pt x="112073" y="6031247"/>
                </a:lnTo>
                <a:lnTo>
                  <a:pt x="154934" y="6013649"/>
                </a:lnTo>
                <a:lnTo>
                  <a:pt x="192200" y="5985369"/>
                </a:lnTo>
                <a:lnTo>
                  <a:pt x="220839" y="5948685"/>
                </a:lnTo>
                <a:lnTo>
                  <a:pt x="243358" y="5900142"/>
                </a:lnTo>
                <a:lnTo>
                  <a:pt x="257017" y="5848681"/>
                </a:lnTo>
                <a:lnTo>
                  <a:pt x="264031" y="5795469"/>
                </a:lnTo>
                <a:lnTo>
                  <a:pt x="266615" y="5741673"/>
                </a:lnTo>
                <a:lnTo>
                  <a:pt x="266984" y="5688460"/>
                </a:lnTo>
                <a:lnTo>
                  <a:pt x="268198" y="3560455"/>
                </a:lnTo>
                <a:lnTo>
                  <a:pt x="267266" y="3448253"/>
                </a:lnTo>
                <a:lnTo>
                  <a:pt x="267674" y="3392443"/>
                </a:lnTo>
                <a:lnTo>
                  <a:pt x="270064" y="3336983"/>
                </a:lnTo>
                <a:lnTo>
                  <a:pt x="275484" y="3281991"/>
                </a:lnTo>
                <a:lnTo>
                  <a:pt x="285075" y="3232844"/>
                </a:lnTo>
                <a:lnTo>
                  <a:pt x="300317" y="3183484"/>
                </a:lnTo>
                <a:lnTo>
                  <a:pt x="321208" y="3135635"/>
                </a:lnTo>
                <a:lnTo>
                  <a:pt x="347750" y="3091018"/>
                </a:lnTo>
                <a:lnTo>
                  <a:pt x="379943" y="3051358"/>
                </a:lnTo>
                <a:lnTo>
                  <a:pt x="417786" y="3018377"/>
                </a:lnTo>
                <a:lnTo>
                  <a:pt x="461279" y="2993798"/>
                </a:lnTo>
                <a:lnTo>
                  <a:pt x="425968" y="2975558"/>
                </a:lnTo>
                <a:lnTo>
                  <a:pt x="321630" y="2920838"/>
                </a:lnTo>
                <a:lnTo>
                  <a:pt x="302423" y="2688755"/>
                </a:lnTo>
                <a:lnTo>
                  <a:pt x="295007" y="2329426"/>
                </a:lnTo>
                <a:lnTo>
                  <a:pt x="245126" y="378176"/>
                </a:lnTo>
                <a:lnTo>
                  <a:pt x="243058" y="331534"/>
                </a:lnTo>
                <a:lnTo>
                  <a:pt x="238827" y="282967"/>
                </a:lnTo>
                <a:lnTo>
                  <a:pt x="231294" y="234087"/>
                </a:lnTo>
                <a:lnTo>
                  <a:pt x="219321" y="186504"/>
                </a:lnTo>
                <a:lnTo>
                  <a:pt x="201770" y="141827"/>
                </a:lnTo>
                <a:lnTo>
                  <a:pt x="177502" y="101669"/>
                </a:lnTo>
                <a:lnTo>
                  <a:pt x="145379" y="67637"/>
                </a:lnTo>
                <a:lnTo>
                  <a:pt x="104262" y="41343"/>
                </a:lnTo>
                <a:lnTo>
                  <a:pt x="93257" y="29240"/>
                </a:lnTo>
                <a:lnTo>
                  <a:pt x="94547" y="13831"/>
                </a:lnTo>
                <a:lnTo>
                  <a:pt x="104945" y="1842"/>
                </a:lnTo>
                <a:lnTo>
                  <a:pt x="121263" y="0"/>
                </a:lnTo>
                <a:close/>
              </a:path>
            </a:pathLst>
          </a:custGeom>
          <a:solidFill>
            <a:srgbClr val="333C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 name="Google Shape;146;p10"/>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47" name="Google Shape;147;p10"/>
          <p:cNvSpPr txBox="1"/>
          <p:nvPr>
            <p:ph idx="11" type="ftr"/>
          </p:nvPr>
        </p:nvSpPr>
        <p:spPr>
          <a:xfrm>
            <a:off x="261619" y="9973500"/>
            <a:ext cx="2287800" cy="428400"/>
          </a:xfrm>
          <a:prstGeom prst="rect">
            <a:avLst/>
          </a:prstGeom>
          <a:noFill/>
          <a:ln>
            <a:noFill/>
          </a:ln>
        </p:spPr>
        <p:txBody>
          <a:bodyPr anchorCtr="0" anchor="t" bIns="0" lIns="0" spcFirstLastPara="1" rIns="0" wrap="square" tIns="0">
            <a:spAutoFit/>
          </a:bodyPr>
          <a:lstStyle/>
          <a:p>
            <a:pPr indent="0" lvl="0" marL="12700" rtl="0" algn="l">
              <a:lnSpc>
                <a:spcPct val="106153"/>
              </a:lnSpc>
              <a:spcBef>
                <a:spcPts val="0"/>
              </a:spcBef>
              <a:spcAft>
                <a:spcPts val="0"/>
              </a:spcAft>
              <a:buClr>
                <a:schemeClr val="dk1"/>
              </a:buClr>
              <a:buFont typeface="Arial"/>
              <a:buNone/>
            </a:pPr>
            <a:r>
              <a:rPr lang="en-US"/>
              <a:t>404 FOUND</a:t>
            </a:r>
            <a:endParaRPr/>
          </a:p>
          <a:p>
            <a:pPr indent="0" lvl="0" marL="12700" rtl="0" algn="l">
              <a:lnSpc>
                <a:spcPct val="106153"/>
              </a:lnSpc>
              <a:spcBef>
                <a:spcPts val="0"/>
              </a:spcBef>
              <a:spcAft>
                <a:spcPts val="0"/>
              </a:spcAft>
              <a:buNone/>
            </a:pPr>
            <a:r>
              <a:t/>
            </a:r>
            <a:endParaRPr/>
          </a:p>
        </p:txBody>
      </p:sp>
      <p:pic>
        <p:nvPicPr>
          <p:cNvPr id="148" name="Google Shape;148;p10"/>
          <p:cNvPicPr preferRelativeResize="0"/>
          <p:nvPr/>
        </p:nvPicPr>
        <p:blipFill>
          <a:blip r:embed="rId3">
            <a:alphaModFix/>
          </a:blip>
          <a:stretch>
            <a:fillRect/>
          </a:stretch>
        </p:blipFill>
        <p:spPr>
          <a:xfrm>
            <a:off x="14896575" y="99200"/>
            <a:ext cx="3167802" cy="1117326"/>
          </a:xfrm>
          <a:prstGeom prst="rect">
            <a:avLst/>
          </a:prstGeom>
          <a:noFill/>
          <a:ln>
            <a:noFill/>
          </a:ln>
        </p:spPr>
      </p:pic>
      <p:pic>
        <p:nvPicPr>
          <p:cNvPr id="149" name="Google Shape;149;p10"/>
          <p:cNvPicPr preferRelativeResize="0"/>
          <p:nvPr/>
        </p:nvPicPr>
        <p:blipFill>
          <a:blip r:embed="rId4">
            <a:alphaModFix/>
          </a:blip>
          <a:stretch>
            <a:fillRect/>
          </a:stretch>
        </p:blipFill>
        <p:spPr>
          <a:xfrm>
            <a:off x="744146" y="365559"/>
            <a:ext cx="1254863" cy="718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nvSpPr>
        <p:spPr>
          <a:xfrm>
            <a:off x="1027013" y="471169"/>
            <a:ext cx="689100" cy="4746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500">
                <a:solidFill>
                  <a:srgbClr val="404040"/>
                </a:solidFill>
                <a:latin typeface="Calibri"/>
                <a:ea typeface="Calibri"/>
                <a:cs typeface="Calibri"/>
                <a:sym typeface="Calibri"/>
              </a:rPr>
              <a:t>Error 404</a:t>
            </a:r>
            <a:endParaRPr sz="1500">
              <a:latin typeface="Calibri"/>
              <a:ea typeface="Calibri"/>
              <a:cs typeface="Calibri"/>
              <a:sym typeface="Calibri"/>
            </a:endParaRPr>
          </a:p>
        </p:txBody>
      </p:sp>
      <p:sp>
        <p:nvSpPr>
          <p:cNvPr descr="$PPTXTitle" id="155" name="Google Shape;155;p11"/>
          <p:cNvSpPr txBox="1"/>
          <p:nvPr>
            <p:ph type="title"/>
          </p:nvPr>
        </p:nvSpPr>
        <p:spPr>
          <a:xfrm>
            <a:off x="5564097" y="460502"/>
            <a:ext cx="6885305" cy="528319"/>
          </a:xfrm>
          <a:prstGeom prst="rect">
            <a:avLst/>
          </a:prstGeom>
          <a:noFill/>
          <a:ln>
            <a:noFill/>
          </a:ln>
        </p:spPr>
        <p:txBody>
          <a:bodyPr anchorCtr="0" anchor="t" bIns="0" lIns="0" spcFirstLastPara="1" rIns="0" wrap="square" tIns="12700">
            <a:spAutoFit/>
          </a:bodyPr>
          <a:lstStyle/>
          <a:p>
            <a:pPr indent="0" lvl="0" marL="768985" rtl="0" algn="l">
              <a:lnSpc>
                <a:spcPct val="100000"/>
              </a:lnSpc>
              <a:spcBef>
                <a:spcPts val="0"/>
              </a:spcBef>
              <a:spcAft>
                <a:spcPts val="0"/>
              </a:spcAft>
              <a:buNone/>
            </a:pPr>
            <a:r>
              <a:rPr lang="en-US"/>
              <a:t>IMPACT AND BENEFITS</a:t>
            </a:r>
            <a:endParaRPr/>
          </a:p>
        </p:txBody>
      </p:sp>
      <p:sp>
        <p:nvSpPr>
          <p:cNvPr id="156" name="Google Shape;156;p11"/>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7" name="Google Shape;157;p11"/>
          <p:cNvSpPr txBox="1"/>
          <p:nvPr/>
        </p:nvSpPr>
        <p:spPr>
          <a:xfrm>
            <a:off x="685799" y="1508759"/>
            <a:ext cx="8161655" cy="617220"/>
          </a:xfrm>
          <a:prstGeom prst="rect">
            <a:avLst/>
          </a:prstGeom>
          <a:solidFill>
            <a:srgbClr val="DDEBF6"/>
          </a:solidFill>
          <a:ln>
            <a:noFill/>
          </a:ln>
        </p:spPr>
        <p:txBody>
          <a:bodyPr anchorCtr="0" anchor="t" bIns="0" lIns="0" spcFirstLastPara="1" rIns="0" wrap="square" tIns="104775">
            <a:spAutoFit/>
          </a:bodyPr>
          <a:lstStyle/>
          <a:p>
            <a:pPr indent="0" lvl="0" marL="0" rtl="0" algn="ctr">
              <a:lnSpc>
                <a:spcPct val="100000"/>
              </a:lnSpc>
              <a:spcBef>
                <a:spcPts val="0"/>
              </a:spcBef>
              <a:spcAft>
                <a:spcPts val="0"/>
              </a:spcAft>
              <a:buNone/>
            </a:pPr>
            <a:r>
              <a:rPr b="1" lang="en-US" sz="2100">
                <a:solidFill>
                  <a:srgbClr val="1F3764"/>
                </a:solidFill>
                <a:latin typeface="Calibri"/>
                <a:ea typeface="Calibri"/>
                <a:cs typeface="Calibri"/>
                <a:sym typeface="Calibri"/>
              </a:rPr>
              <a:t>Impact on Stakeholders</a:t>
            </a:r>
            <a:endParaRPr sz="2100">
              <a:latin typeface="Calibri"/>
              <a:ea typeface="Calibri"/>
              <a:cs typeface="Calibri"/>
              <a:sym typeface="Calibri"/>
            </a:endParaRPr>
          </a:p>
        </p:txBody>
      </p:sp>
      <p:sp>
        <p:nvSpPr>
          <p:cNvPr id="158" name="Google Shape;158;p11"/>
          <p:cNvSpPr txBox="1"/>
          <p:nvPr/>
        </p:nvSpPr>
        <p:spPr>
          <a:xfrm>
            <a:off x="9326879" y="1508759"/>
            <a:ext cx="8228965" cy="617220"/>
          </a:xfrm>
          <a:prstGeom prst="rect">
            <a:avLst/>
          </a:prstGeom>
          <a:solidFill>
            <a:srgbClr val="FFF1E4"/>
          </a:solidFill>
          <a:ln>
            <a:noFill/>
          </a:ln>
        </p:spPr>
        <p:txBody>
          <a:bodyPr anchorCtr="0" anchor="t" bIns="0" lIns="0" spcFirstLastPara="1" rIns="0" wrap="square" tIns="104775">
            <a:spAutoFit/>
          </a:bodyPr>
          <a:lstStyle/>
          <a:p>
            <a:pPr indent="0" lvl="0" marL="635" rtl="0" algn="ctr">
              <a:lnSpc>
                <a:spcPct val="100000"/>
              </a:lnSpc>
              <a:spcBef>
                <a:spcPts val="0"/>
              </a:spcBef>
              <a:spcAft>
                <a:spcPts val="0"/>
              </a:spcAft>
              <a:buNone/>
            </a:pPr>
            <a:r>
              <a:rPr b="1" lang="en-US" sz="2100">
                <a:solidFill>
                  <a:srgbClr val="1F3764"/>
                </a:solidFill>
                <a:latin typeface="Calibri"/>
                <a:ea typeface="Calibri"/>
                <a:cs typeface="Calibri"/>
                <a:sym typeface="Calibri"/>
              </a:rPr>
              <a:t>Benefits</a:t>
            </a:r>
            <a:endParaRPr sz="2100">
              <a:latin typeface="Calibri"/>
              <a:ea typeface="Calibri"/>
              <a:cs typeface="Calibri"/>
              <a:sym typeface="Calibri"/>
            </a:endParaRPr>
          </a:p>
        </p:txBody>
      </p:sp>
      <p:pic>
        <p:nvPicPr>
          <p:cNvPr id="159" name="Google Shape;159;p11"/>
          <p:cNvPicPr preferRelativeResize="0"/>
          <p:nvPr/>
        </p:nvPicPr>
        <p:blipFill rotWithShape="1">
          <a:blip r:embed="rId3">
            <a:alphaModFix/>
          </a:blip>
          <a:srcRect b="0" l="0" r="0" t="0"/>
          <a:stretch/>
        </p:blipFill>
        <p:spPr>
          <a:xfrm>
            <a:off x="315538" y="2608155"/>
            <a:ext cx="102336" cy="102336"/>
          </a:xfrm>
          <a:prstGeom prst="rect">
            <a:avLst/>
          </a:prstGeom>
          <a:noFill/>
          <a:ln>
            <a:noFill/>
          </a:ln>
        </p:spPr>
      </p:pic>
      <p:sp>
        <p:nvSpPr>
          <p:cNvPr id="160" name="Google Shape;160;p11"/>
          <p:cNvSpPr txBox="1"/>
          <p:nvPr>
            <p:ph idx="1" type="body"/>
          </p:nvPr>
        </p:nvSpPr>
        <p:spPr>
          <a:xfrm>
            <a:off x="559346" y="2257863"/>
            <a:ext cx="8225155" cy="6217284"/>
          </a:xfrm>
          <a:prstGeom prst="rect">
            <a:avLst/>
          </a:prstGeom>
          <a:noFill/>
          <a:ln>
            <a:noFill/>
          </a:ln>
        </p:spPr>
        <p:txBody>
          <a:bodyPr anchorCtr="0" anchor="t" bIns="0" lIns="0" spcFirstLastPara="1" rIns="0" wrap="square" tIns="12700">
            <a:spAutoFit/>
          </a:bodyPr>
          <a:lstStyle/>
          <a:p>
            <a:pPr indent="0" lvl="0" marL="12700" marR="309880" rtl="0" algn="l">
              <a:lnSpc>
                <a:spcPct val="117200"/>
              </a:lnSpc>
              <a:spcBef>
                <a:spcPts val="0"/>
              </a:spcBef>
              <a:spcAft>
                <a:spcPts val="0"/>
              </a:spcAft>
              <a:buNone/>
            </a:pPr>
            <a:r>
              <a:rPr lang="en-US"/>
              <a:t>MoSPI / NSO: automated real-time airfare data replaces manual monthly surveys, improving CPI accuracy.</a:t>
            </a:r>
            <a:endParaRPr/>
          </a:p>
          <a:p>
            <a:pPr indent="0" lvl="0" marL="12700" marR="443230" rtl="0" algn="l">
              <a:lnSpc>
                <a:spcPct val="117200"/>
              </a:lnSpc>
              <a:spcBef>
                <a:spcPts val="0"/>
              </a:spcBef>
              <a:spcAft>
                <a:spcPts val="0"/>
              </a:spcAft>
              <a:buNone/>
            </a:pPr>
            <a:r>
              <a:rPr lang="en-US"/>
              <a:t>RBI Monetary Policy Committee: more precise transport-inflation input for repo-rate decisions affecting 1.4 billion people.</a:t>
            </a:r>
            <a:endParaRPr/>
          </a:p>
          <a:p>
            <a:pPr indent="0" lvl="0" marL="12700" marR="5080" rtl="0" algn="l">
              <a:lnSpc>
                <a:spcPct val="117200"/>
              </a:lnSpc>
              <a:spcBef>
                <a:spcPts val="0"/>
              </a:spcBef>
              <a:spcAft>
                <a:spcPts val="0"/>
              </a:spcAft>
              <a:buNone/>
            </a:pPr>
            <a:r>
              <a:rPr lang="en-US"/>
              <a:t>DGCA &amp; MoCA: real-time fare visibility supports consumer-protection enforcement and fare-policy design.</a:t>
            </a:r>
            <a:endParaRPr/>
          </a:p>
          <a:p>
            <a:pPr indent="0" lvl="0" marL="12700" marR="152400" rtl="0" algn="l">
              <a:lnSpc>
                <a:spcPct val="117200"/>
              </a:lnSpc>
              <a:spcBef>
                <a:spcPts val="5"/>
              </a:spcBef>
              <a:spcAft>
                <a:spcPts val="0"/>
              </a:spcAft>
              <a:buNone/>
            </a:pPr>
            <a:r>
              <a:rPr lang="en-US"/>
              <a:t>Citizens: a more accurate inflation measure feeds into fairer interest rates on loans and deposits.</a:t>
            </a:r>
            <a:endParaRPr/>
          </a:p>
        </p:txBody>
      </p:sp>
      <p:pic>
        <p:nvPicPr>
          <p:cNvPr id="161" name="Google Shape;161;p11"/>
          <p:cNvPicPr preferRelativeResize="0"/>
          <p:nvPr/>
        </p:nvPicPr>
        <p:blipFill rotWithShape="1">
          <a:blip r:embed="rId4">
            <a:alphaModFix/>
          </a:blip>
          <a:srcRect b="0" l="0" r="0" t="0"/>
          <a:stretch/>
        </p:blipFill>
        <p:spPr>
          <a:xfrm>
            <a:off x="315538" y="4296711"/>
            <a:ext cx="102336" cy="102336"/>
          </a:xfrm>
          <a:prstGeom prst="rect">
            <a:avLst/>
          </a:prstGeom>
          <a:noFill/>
          <a:ln>
            <a:noFill/>
          </a:ln>
        </p:spPr>
      </p:pic>
      <p:pic>
        <p:nvPicPr>
          <p:cNvPr id="162" name="Google Shape;162;p11"/>
          <p:cNvPicPr preferRelativeResize="0"/>
          <p:nvPr/>
        </p:nvPicPr>
        <p:blipFill rotWithShape="1">
          <a:blip r:embed="rId5">
            <a:alphaModFix/>
          </a:blip>
          <a:srcRect b="0" l="0" r="0" t="0"/>
          <a:stretch/>
        </p:blipFill>
        <p:spPr>
          <a:xfrm>
            <a:off x="315538" y="5985267"/>
            <a:ext cx="102336" cy="102336"/>
          </a:xfrm>
          <a:prstGeom prst="rect">
            <a:avLst/>
          </a:prstGeom>
          <a:noFill/>
          <a:ln>
            <a:noFill/>
          </a:ln>
        </p:spPr>
      </p:pic>
      <p:pic>
        <p:nvPicPr>
          <p:cNvPr id="163" name="Google Shape;163;p11"/>
          <p:cNvPicPr preferRelativeResize="0"/>
          <p:nvPr/>
        </p:nvPicPr>
        <p:blipFill rotWithShape="1">
          <a:blip r:embed="rId4">
            <a:alphaModFix/>
          </a:blip>
          <a:srcRect b="0" l="0" r="0" t="0"/>
          <a:stretch/>
        </p:blipFill>
        <p:spPr>
          <a:xfrm>
            <a:off x="315538" y="7673823"/>
            <a:ext cx="102336" cy="102336"/>
          </a:xfrm>
          <a:prstGeom prst="rect">
            <a:avLst/>
          </a:prstGeom>
          <a:noFill/>
          <a:ln>
            <a:noFill/>
          </a:ln>
        </p:spPr>
      </p:pic>
      <p:pic>
        <p:nvPicPr>
          <p:cNvPr id="164" name="Google Shape;164;p11"/>
          <p:cNvPicPr preferRelativeResize="0"/>
          <p:nvPr/>
        </p:nvPicPr>
        <p:blipFill rotWithShape="1">
          <a:blip r:embed="rId6">
            <a:alphaModFix/>
          </a:blip>
          <a:srcRect b="0" l="0" r="0" t="0"/>
          <a:stretch/>
        </p:blipFill>
        <p:spPr>
          <a:xfrm>
            <a:off x="9631679" y="2507932"/>
            <a:ext cx="95250" cy="95249"/>
          </a:xfrm>
          <a:prstGeom prst="rect">
            <a:avLst/>
          </a:prstGeom>
          <a:noFill/>
          <a:ln>
            <a:noFill/>
          </a:ln>
        </p:spPr>
      </p:pic>
      <p:sp>
        <p:nvSpPr>
          <p:cNvPr id="165" name="Google Shape;165;p11"/>
          <p:cNvSpPr txBox="1"/>
          <p:nvPr>
            <p:ph idx="2" type="body"/>
          </p:nvPr>
        </p:nvSpPr>
        <p:spPr>
          <a:xfrm>
            <a:off x="9879577" y="2165020"/>
            <a:ext cx="7591425" cy="6654800"/>
          </a:xfrm>
          <a:prstGeom prst="rect">
            <a:avLst/>
          </a:prstGeom>
          <a:noFill/>
          <a:ln>
            <a:noFill/>
          </a:ln>
        </p:spPr>
        <p:txBody>
          <a:bodyPr anchorCtr="0" anchor="t" bIns="0" lIns="0" spcFirstLastPara="1" rIns="0" wrap="square" tIns="12050">
            <a:spAutoFit/>
          </a:bodyPr>
          <a:lstStyle/>
          <a:p>
            <a:pPr indent="0" lvl="0" marL="12700" marR="142875" rtl="0" algn="l">
              <a:lnSpc>
                <a:spcPct val="116900"/>
              </a:lnSpc>
              <a:spcBef>
                <a:spcPts val="0"/>
              </a:spcBef>
              <a:spcAft>
                <a:spcPts val="0"/>
              </a:spcAft>
              <a:buNone/>
            </a:pPr>
            <a:r>
              <a:rPr lang="en-US"/>
              <a:t>Structurally corrects a known blind spot in the CPI Services Basket (Transport &amp; Communication sub-group).</a:t>
            </a:r>
            <a:endParaRPr/>
          </a:p>
          <a:p>
            <a:pPr indent="0" lvl="0" marL="12700" marR="12700" rtl="0" algn="l">
              <a:lnSpc>
                <a:spcPct val="116900"/>
              </a:lnSpc>
              <a:spcBef>
                <a:spcPts val="0"/>
              </a:spcBef>
              <a:spcAft>
                <a:spcPts val="0"/>
              </a:spcAft>
              <a:buNone/>
            </a:pPr>
            <a:r>
              <a:rPr lang="en-US"/>
              <a:t>Full advance-purchase yield curve (T+1 to T+45) instead of one static monthly quote. Robust outlier governance — legitimate surges are kept, genuine anomalies are excluded.</a:t>
            </a:r>
            <a:endParaRPr/>
          </a:p>
          <a:p>
            <a:pPr indent="0" lvl="0" marL="12700" marR="1329690" rtl="0" algn="l">
              <a:lnSpc>
                <a:spcPct val="116900"/>
              </a:lnSpc>
              <a:spcBef>
                <a:spcPts val="5"/>
              </a:spcBef>
              <a:spcAft>
                <a:spcPts val="0"/>
              </a:spcAft>
              <a:buNone/>
            </a:pPr>
            <a:r>
              <a:rPr lang="en-US"/>
              <a:t>Complete audit-compliance trail builds institutional trust and transparency.</a:t>
            </a:r>
            <a:endParaRPr/>
          </a:p>
          <a:p>
            <a:pPr indent="0" lvl="0" marL="12700" marR="5080" rtl="0" algn="l">
              <a:lnSpc>
                <a:spcPct val="116900"/>
              </a:lnSpc>
              <a:spcBef>
                <a:spcPts val="0"/>
              </a:spcBef>
              <a:spcAft>
                <a:spcPts val="0"/>
              </a:spcAft>
              <a:buNone/>
            </a:pPr>
            <a:r>
              <a:rPr lang="en-US"/>
              <a:t>Secure REST API makes the index directly consumable by RBI/NSO systems, closing inter-ministerial data silos.</a:t>
            </a:r>
            <a:endParaRPr/>
          </a:p>
        </p:txBody>
      </p:sp>
      <p:pic>
        <p:nvPicPr>
          <p:cNvPr id="166" name="Google Shape;166;p11"/>
          <p:cNvPicPr preferRelativeResize="0"/>
          <p:nvPr/>
        </p:nvPicPr>
        <p:blipFill rotWithShape="1">
          <a:blip r:embed="rId6">
            <a:alphaModFix/>
          </a:blip>
          <a:srcRect b="0" l="0" r="0" t="0"/>
          <a:stretch/>
        </p:blipFill>
        <p:spPr>
          <a:xfrm>
            <a:off x="9631679" y="4165282"/>
            <a:ext cx="95250" cy="95249"/>
          </a:xfrm>
          <a:prstGeom prst="rect">
            <a:avLst/>
          </a:prstGeom>
          <a:noFill/>
          <a:ln>
            <a:noFill/>
          </a:ln>
        </p:spPr>
      </p:pic>
      <p:pic>
        <p:nvPicPr>
          <p:cNvPr id="167" name="Google Shape;167;p11"/>
          <p:cNvPicPr preferRelativeResize="0"/>
          <p:nvPr/>
        </p:nvPicPr>
        <p:blipFill rotWithShape="1">
          <a:blip r:embed="rId6">
            <a:alphaModFix/>
          </a:blip>
          <a:srcRect b="0" l="0" r="0" t="0"/>
          <a:stretch/>
        </p:blipFill>
        <p:spPr>
          <a:xfrm>
            <a:off x="9631679" y="5270182"/>
            <a:ext cx="95250" cy="95249"/>
          </a:xfrm>
          <a:prstGeom prst="rect">
            <a:avLst/>
          </a:prstGeom>
          <a:noFill/>
          <a:ln>
            <a:noFill/>
          </a:ln>
        </p:spPr>
      </p:pic>
      <p:pic>
        <p:nvPicPr>
          <p:cNvPr id="168" name="Google Shape;168;p11"/>
          <p:cNvPicPr preferRelativeResize="0"/>
          <p:nvPr/>
        </p:nvPicPr>
        <p:blipFill rotWithShape="1">
          <a:blip r:embed="rId6">
            <a:alphaModFix/>
          </a:blip>
          <a:srcRect b="0" l="0" r="0" t="0"/>
          <a:stretch/>
        </p:blipFill>
        <p:spPr>
          <a:xfrm>
            <a:off x="9631679" y="6375082"/>
            <a:ext cx="95250" cy="95249"/>
          </a:xfrm>
          <a:prstGeom prst="rect">
            <a:avLst/>
          </a:prstGeom>
          <a:noFill/>
          <a:ln>
            <a:noFill/>
          </a:ln>
        </p:spPr>
      </p:pic>
      <p:pic>
        <p:nvPicPr>
          <p:cNvPr id="169" name="Google Shape;169;p11"/>
          <p:cNvPicPr preferRelativeResize="0"/>
          <p:nvPr/>
        </p:nvPicPr>
        <p:blipFill rotWithShape="1">
          <a:blip r:embed="rId6">
            <a:alphaModFix/>
          </a:blip>
          <a:srcRect b="0" l="0" r="0" t="0"/>
          <a:stretch/>
        </p:blipFill>
        <p:spPr>
          <a:xfrm>
            <a:off x="9631679" y="7479982"/>
            <a:ext cx="95250" cy="95249"/>
          </a:xfrm>
          <a:prstGeom prst="rect">
            <a:avLst/>
          </a:prstGeom>
          <a:noFill/>
          <a:ln>
            <a:noFill/>
          </a:ln>
        </p:spPr>
      </p:pic>
      <p:sp>
        <p:nvSpPr>
          <p:cNvPr id="170" name="Google Shape;170;p11"/>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71" name="Google Shape;171;p11"/>
          <p:cNvSpPr txBox="1"/>
          <p:nvPr>
            <p:ph idx="11" type="ftr"/>
          </p:nvPr>
        </p:nvSpPr>
        <p:spPr>
          <a:xfrm>
            <a:off x="261619" y="9973500"/>
            <a:ext cx="2287800" cy="428400"/>
          </a:xfrm>
          <a:prstGeom prst="rect">
            <a:avLst/>
          </a:prstGeom>
          <a:noFill/>
          <a:ln>
            <a:noFill/>
          </a:ln>
        </p:spPr>
        <p:txBody>
          <a:bodyPr anchorCtr="0" anchor="t" bIns="0" lIns="0" spcFirstLastPara="1" rIns="0" wrap="square" tIns="0">
            <a:spAutoFit/>
          </a:bodyPr>
          <a:lstStyle/>
          <a:p>
            <a:pPr indent="0" lvl="0" marL="12700" rtl="0" algn="l">
              <a:lnSpc>
                <a:spcPct val="106153"/>
              </a:lnSpc>
              <a:spcBef>
                <a:spcPts val="0"/>
              </a:spcBef>
              <a:spcAft>
                <a:spcPts val="0"/>
              </a:spcAft>
              <a:buClr>
                <a:schemeClr val="dk1"/>
              </a:buClr>
              <a:buFont typeface="Arial"/>
              <a:buNone/>
            </a:pPr>
            <a:r>
              <a:rPr lang="en-US"/>
              <a:t>404 FOUND</a:t>
            </a:r>
            <a:endParaRPr/>
          </a:p>
          <a:p>
            <a:pPr indent="0" lvl="0" marL="12700" rtl="0" algn="l">
              <a:lnSpc>
                <a:spcPct val="106153"/>
              </a:lnSpc>
              <a:spcBef>
                <a:spcPts val="0"/>
              </a:spcBef>
              <a:spcAft>
                <a:spcPts val="0"/>
              </a:spcAft>
              <a:buNone/>
            </a:pPr>
            <a:r>
              <a:t/>
            </a:r>
            <a:endParaRPr/>
          </a:p>
        </p:txBody>
      </p:sp>
      <p:pic>
        <p:nvPicPr>
          <p:cNvPr id="172" name="Google Shape;172;p11"/>
          <p:cNvPicPr preferRelativeResize="0"/>
          <p:nvPr/>
        </p:nvPicPr>
        <p:blipFill>
          <a:blip r:embed="rId7">
            <a:alphaModFix/>
          </a:blip>
          <a:stretch>
            <a:fillRect/>
          </a:stretch>
        </p:blipFill>
        <p:spPr>
          <a:xfrm>
            <a:off x="14896575" y="117000"/>
            <a:ext cx="3167802" cy="1217825"/>
          </a:xfrm>
          <a:prstGeom prst="rect">
            <a:avLst/>
          </a:prstGeom>
          <a:noFill/>
          <a:ln>
            <a:noFill/>
          </a:ln>
        </p:spPr>
      </p:pic>
      <p:pic>
        <p:nvPicPr>
          <p:cNvPr id="173" name="Google Shape;173;p11"/>
          <p:cNvPicPr preferRelativeResize="0"/>
          <p:nvPr/>
        </p:nvPicPr>
        <p:blipFill>
          <a:blip r:embed="rId8">
            <a:alphaModFix/>
          </a:blip>
          <a:stretch>
            <a:fillRect/>
          </a:stretch>
        </p:blipFill>
        <p:spPr>
          <a:xfrm>
            <a:off x="744146" y="365559"/>
            <a:ext cx="1254863" cy="71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txBox="1"/>
          <p:nvPr/>
        </p:nvSpPr>
        <p:spPr>
          <a:xfrm>
            <a:off x="1027013" y="471169"/>
            <a:ext cx="689100" cy="4746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500">
                <a:solidFill>
                  <a:srgbClr val="404040"/>
                </a:solidFill>
                <a:latin typeface="Calibri"/>
                <a:ea typeface="Calibri"/>
                <a:cs typeface="Calibri"/>
                <a:sym typeface="Calibri"/>
              </a:rPr>
              <a:t>Error 404</a:t>
            </a:r>
            <a:endParaRPr sz="1500">
              <a:latin typeface="Calibri"/>
              <a:ea typeface="Calibri"/>
              <a:cs typeface="Calibri"/>
              <a:sym typeface="Calibri"/>
            </a:endParaRPr>
          </a:p>
        </p:txBody>
      </p:sp>
      <p:sp>
        <p:nvSpPr>
          <p:cNvPr descr="$PPTXTitle" id="179" name="Google Shape;179;p12"/>
          <p:cNvSpPr txBox="1"/>
          <p:nvPr>
            <p:ph type="title"/>
          </p:nvPr>
        </p:nvSpPr>
        <p:spPr>
          <a:xfrm>
            <a:off x="5564097" y="460502"/>
            <a:ext cx="6885305" cy="52831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RESEARCH AND REFERENCES</a:t>
            </a:r>
            <a:endParaRPr/>
          </a:p>
        </p:txBody>
      </p:sp>
      <p:sp>
        <p:nvSpPr>
          <p:cNvPr id="180" name="Google Shape;180;p12"/>
          <p:cNvSpPr/>
          <p:nvPr/>
        </p:nvSpPr>
        <p:spPr>
          <a:xfrm>
            <a:off x="0" y="9848088"/>
            <a:ext cx="18287365" cy="439420"/>
          </a:xfrm>
          <a:custGeom>
            <a:rect b="b" l="l" r="r" t="t"/>
            <a:pathLst>
              <a:path extrusionOk="0" h="439420" w="18287365">
                <a:moveTo>
                  <a:pt x="18286855" y="438911"/>
                </a:moveTo>
                <a:lnTo>
                  <a:pt x="0" y="438911"/>
                </a:lnTo>
                <a:lnTo>
                  <a:pt x="0" y="0"/>
                </a:lnTo>
                <a:lnTo>
                  <a:pt x="18286855" y="0"/>
                </a:lnTo>
                <a:lnTo>
                  <a:pt x="18286855" y="438911"/>
                </a:lnTo>
                <a:close/>
              </a:path>
            </a:pathLst>
          </a:custGeom>
          <a:solidFill>
            <a:srgbClr val="006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1" name="Google Shape;181;p12"/>
          <p:cNvSpPr txBox="1"/>
          <p:nvPr/>
        </p:nvSpPr>
        <p:spPr>
          <a:xfrm>
            <a:off x="741679" y="1501393"/>
            <a:ext cx="8981440" cy="6925309"/>
          </a:xfrm>
          <a:prstGeom prst="rect">
            <a:avLst/>
          </a:prstGeom>
          <a:noFill/>
          <a:ln>
            <a:noFill/>
          </a:ln>
        </p:spPr>
        <p:txBody>
          <a:bodyPr anchorCtr="0" anchor="t" bIns="0" lIns="0" spcFirstLastPara="1" rIns="0" wrap="square" tIns="33650">
            <a:spAutoFit/>
          </a:bodyPr>
          <a:lstStyle/>
          <a:p>
            <a:pPr indent="-312420" lvl="0" marL="325120" rtl="0" algn="l">
              <a:lnSpc>
                <a:spcPct val="100000"/>
              </a:lnSpc>
              <a:spcBef>
                <a:spcPts val="0"/>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MoSPI — Consumer Price Index Methodology</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Source: Ministry of Statistics &amp; Programme Implementation — </a:t>
            </a:r>
            <a:r>
              <a:rPr i="1" lang="en-US" sz="1800" u="sng">
                <a:solidFill>
                  <a:schemeClr val="hlink"/>
                </a:solidFill>
                <a:latin typeface="Calibri"/>
                <a:ea typeface="Calibri"/>
                <a:cs typeface="Calibri"/>
                <a:sym typeface="Calibri"/>
                <a:hlinkClick r:id="rId3"/>
              </a:rPr>
              <a:t>https://www.mospi.gov.in</a:t>
            </a:r>
            <a:endParaRPr sz="1800">
              <a:latin typeface="Calibri"/>
              <a:ea typeface="Calibri"/>
              <a:cs typeface="Calibri"/>
              <a:sym typeface="Calibri"/>
            </a:endParaRPr>
          </a:p>
          <a:p>
            <a:pPr indent="0" lvl="0" marL="0" rtl="0" algn="l">
              <a:lnSpc>
                <a:spcPct val="100000"/>
              </a:lnSpc>
              <a:spcBef>
                <a:spcPts val="0"/>
              </a:spcBef>
              <a:spcAft>
                <a:spcPts val="0"/>
              </a:spcAft>
              <a:buNone/>
            </a:pPr>
            <a:r>
              <a:t/>
            </a:r>
            <a:endParaRPr sz="1800">
              <a:latin typeface="Calibri"/>
              <a:ea typeface="Calibri"/>
              <a:cs typeface="Calibri"/>
              <a:sym typeface="Calibri"/>
            </a:endParaRPr>
          </a:p>
          <a:p>
            <a:pPr indent="0" lvl="0" marL="0" rtl="0" algn="l">
              <a:lnSpc>
                <a:spcPct val="100000"/>
              </a:lnSpc>
              <a:spcBef>
                <a:spcPts val="1055"/>
              </a:spcBef>
              <a:spcAft>
                <a:spcPts val="0"/>
              </a:spcAft>
              <a:buNone/>
            </a:pPr>
            <a:r>
              <a:t/>
            </a:r>
            <a:endParaRPr sz="1800">
              <a:latin typeface="Calibri"/>
              <a:ea typeface="Calibri"/>
              <a:cs typeface="Calibri"/>
              <a:sym typeface="Calibri"/>
            </a:endParaRPr>
          </a:p>
          <a:p>
            <a:pPr indent="-312420" lvl="0" marL="325120" rtl="0" algn="l">
              <a:lnSpc>
                <a:spcPct val="100000"/>
              </a:lnSpc>
              <a:spcBef>
                <a:spcPts val="0"/>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IMF Consumer Price Index Manual (Jevons index guidance)</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Source: International Monetary Fund — </a:t>
            </a:r>
            <a:r>
              <a:rPr i="1" lang="en-US" sz="1800" u="sng">
                <a:solidFill>
                  <a:schemeClr val="hlink"/>
                </a:solidFill>
                <a:latin typeface="Calibri"/>
                <a:ea typeface="Calibri"/>
                <a:cs typeface="Calibri"/>
                <a:sym typeface="Calibri"/>
                <a:hlinkClick r:id="rId4"/>
              </a:rPr>
              <a:t>https://www.imf.org/en/Data/Statistics/cpi-manual</a:t>
            </a:r>
            <a:endParaRPr sz="1800">
              <a:latin typeface="Calibri"/>
              <a:ea typeface="Calibri"/>
              <a:cs typeface="Calibri"/>
              <a:sym typeface="Calibri"/>
            </a:endParaRPr>
          </a:p>
          <a:p>
            <a:pPr indent="0" lvl="0" marL="0" rtl="0" algn="l">
              <a:lnSpc>
                <a:spcPct val="100000"/>
              </a:lnSpc>
              <a:spcBef>
                <a:spcPts val="0"/>
              </a:spcBef>
              <a:spcAft>
                <a:spcPts val="0"/>
              </a:spcAft>
              <a:buNone/>
            </a:pPr>
            <a:r>
              <a:t/>
            </a:r>
            <a:endParaRPr sz="1800">
              <a:latin typeface="Calibri"/>
              <a:ea typeface="Calibri"/>
              <a:cs typeface="Calibri"/>
              <a:sym typeface="Calibri"/>
            </a:endParaRPr>
          </a:p>
          <a:p>
            <a:pPr indent="0" lvl="0" marL="0" rtl="0" algn="l">
              <a:lnSpc>
                <a:spcPct val="100000"/>
              </a:lnSpc>
              <a:spcBef>
                <a:spcPts val="1055"/>
              </a:spcBef>
              <a:spcAft>
                <a:spcPts val="0"/>
              </a:spcAft>
              <a:buNone/>
            </a:pPr>
            <a:r>
              <a:t/>
            </a:r>
            <a:endParaRPr sz="1800">
              <a:latin typeface="Calibri"/>
              <a:ea typeface="Calibri"/>
              <a:cs typeface="Calibri"/>
              <a:sym typeface="Calibri"/>
            </a:endParaRPr>
          </a:p>
          <a:p>
            <a:pPr indent="-312420" lvl="0" marL="325120" rtl="0" algn="l">
              <a:lnSpc>
                <a:spcPct val="100000"/>
              </a:lnSpc>
              <a:spcBef>
                <a:spcPts val="0"/>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DGCA Domestic Air Traffic &amp; Fare Data</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Source: Directorate General of Civil Aviation — </a:t>
            </a:r>
            <a:r>
              <a:rPr i="1" lang="en-US" sz="1800" u="sng">
                <a:solidFill>
                  <a:schemeClr val="hlink"/>
                </a:solidFill>
                <a:latin typeface="Calibri"/>
                <a:ea typeface="Calibri"/>
                <a:cs typeface="Calibri"/>
                <a:sym typeface="Calibri"/>
                <a:hlinkClick r:id="rId5"/>
              </a:rPr>
              <a:t>https://www.dgca.gov.in</a:t>
            </a:r>
            <a:endParaRPr sz="1800">
              <a:latin typeface="Calibri"/>
              <a:ea typeface="Calibri"/>
              <a:cs typeface="Calibri"/>
              <a:sym typeface="Calibri"/>
            </a:endParaRPr>
          </a:p>
          <a:p>
            <a:pPr indent="0" lvl="0" marL="0" rtl="0" algn="l">
              <a:lnSpc>
                <a:spcPct val="100000"/>
              </a:lnSpc>
              <a:spcBef>
                <a:spcPts val="0"/>
              </a:spcBef>
              <a:spcAft>
                <a:spcPts val="0"/>
              </a:spcAft>
              <a:buNone/>
            </a:pPr>
            <a:r>
              <a:t/>
            </a:r>
            <a:endParaRPr sz="1800">
              <a:latin typeface="Calibri"/>
              <a:ea typeface="Calibri"/>
              <a:cs typeface="Calibri"/>
              <a:sym typeface="Calibri"/>
            </a:endParaRPr>
          </a:p>
          <a:p>
            <a:pPr indent="0" lvl="0" marL="0" rtl="0" algn="l">
              <a:lnSpc>
                <a:spcPct val="100000"/>
              </a:lnSpc>
              <a:spcBef>
                <a:spcPts val="1055"/>
              </a:spcBef>
              <a:spcAft>
                <a:spcPts val="0"/>
              </a:spcAft>
              <a:buNone/>
            </a:pPr>
            <a:r>
              <a:t/>
            </a:r>
            <a:endParaRPr sz="1800">
              <a:latin typeface="Calibri"/>
              <a:ea typeface="Calibri"/>
              <a:cs typeface="Calibri"/>
              <a:sym typeface="Calibri"/>
            </a:endParaRPr>
          </a:p>
          <a:p>
            <a:pPr indent="-312420" lvl="0" marL="325120" rtl="0" algn="l">
              <a:lnSpc>
                <a:spcPct val="100000"/>
              </a:lnSpc>
              <a:spcBef>
                <a:spcPts val="5"/>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RBI Monetary Policy Framework</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Source: Reserve Bank of India — </a:t>
            </a:r>
            <a:r>
              <a:rPr i="1" lang="en-US" sz="1800" u="sng">
                <a:solidFill>
                  <a:schemeClr val="hlink"/>
                </a:solidFill>
                <a:latin typeface="Calibri"/>
                <a:ea typeface="Calibri"/>
                <a:cs typeface="Calibri"/>
                <a:sym typeface="Calibri"/>
                <a:hlinkClick r:id="rId6"/>
              </a:rPr>
              <a:t>https://www.rbi.org.in</a:t>
            </a:r>
            <a:endParaRPr sz="1800">
              <a:latin typeface="Calibri"/>
              <a:ea typeface="Calibri"/>
              <a:cs typeface="Calibri"/>
              <a:sym typeface="Calibri"/>
            </a:endParaRPr>
          </a:p>
          <a:p>
            <a:pPr indent="0" lvl="0" marL="0" rtl="0" algn="l">
              <a:lnSpc>
                <a:spcPct val="100000"/>
              </a:lnSpc>
              <a:spcBef>
                <a:spcPts val="0"/>
              </a:spcBef>
              <a:spcAft>
                <a:spcPts val="0"/>
              </a:spcAft>
              <a:buNone/>
            </a:pPr>
            <a:r>
              <a:t/>
            </a:r>
            <a:endParaRPr sz="1800">
              <a:latin typeface="Calibri"/>
              <a:ea typeface="Calibri"/>
              <a:cs typeface="Calibri"/>
              <a:sym typeface="Calibri"/>
            </a:endParaRPr>
          </a:p>
          <a:p>
            <a:pPr indent="0" lvl="0" marL="0" rtl="0" algn="l">
              <a:lnSpc>
                <a:spcPct val="100000"/>
              </a:lnSpc>
              <a:spcBef>
                <a:spcPts val="1055"/>
              </a:spcBef>
              <a:spcAft>
                <a:spcPts val="0"/>
              </a:spcAft>
              <a:buNone/>
            </a:pPr>
            <a:r>
              <a:t/>
            </a:r>
            <a:endParaRPr sz="1800">
              <a:latin typeface="Calibri"/>
              <a:ea typeface="Calibri"/>
              <a:cs typeface="Calibri"/>
              <a:sym typeface="Calibri"/>
            </a:endParaRPr>
          </a:p>
          <a:p>
            <a:pPr indent="-312420" lvl="0" marL="325120" rtl="0" algn="l">
              <a:lnSpc>
                <a:spcPct val="100000"/>
              </a:lnSpc>
              <a:spcBef>
                <a:spcPts val="0"/>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FastAPI Documentation</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Backend framework reference — </a:t>
            </a:r>
            <a:r>
              <a:rPr i="1" lang="en-US" sz="1800" u="sng">
                <a:solidFill>
                  <a:schemeClr val="hlink"/>
                </a:solidFill>
                <a:latin typeface="Calibri"/>
                <a:ea typeface="Calibri"/>
                <a:cs typeface="Calibri"/>
                <a:sym typeface="Calibri"/>
                <a:hlinkClick r:id="rId7"/>
              </a:rPr>
              <a:t>https://fastapi.tiangolo.com</a:t>
            </a:r>
            <a:endParaRPr sz="1800">
              <a:latin typeface="Calibri"/>
              <a:ea typeface="Calibri"/>
              <a:cs typeface="Calibri"/>
              <a:sym typeface="Calibri"/>
            </a:endParaRPr>
          </a:p>
          <a:p>
            <a:pPr indent="0" lvl="0" marL="0" rtl="0" algn="l">
              <a:lnSpc>
                <a:spcPct val="100000"/>
              </a:lnSpc>
              <a:spcBef>
                <a:spcPts val="0"/>
              </a:spcBef>
              <a:spcAft>
                <a:spcPts val="0"/>
              </a:spcAft>
              <a:buNone/>
            </a:pPr>
            <a:r>
              <a:t/>
            </a:r>
            <a:endParaRPr sz="1800">
              <a:latin typeface="Calibri"/>
              <a:ea typeface="Calibri"/>
              <a:cs typeface="Calibri"/>
              <a:sym typeface="Calibri"/>
            </a:endParaRPr>
          </a:p>
          <a:p>
            <a:pPr indent="0" lvl="0" marL="0" rtl="0" algn="l">
              <a:lnSpc>
                <a:spcPct val="100000"/>
              </a:lnSpc>
              <a:spcBef>
                <a:spcPts val="1055"/>
              </a:spcBef>
              <a:spcAft>
                <a:spcPts val="0"/>
              </a:spcAft>
              <a:buNone/>
            </a:pPr>
            <a:r>
              <a:t/>
            </a:r>
            <a:endParaRPr sz="1800">
              <a:latin typeface="Calibri"/>
              <a:ea typeface="Calibri"/>
              <a:cs typeface="Calibri"/>
              <a:sym typeface="Calibri"/>
            </a:endParaRPr>
          </a:p>
          <a:p>
            <a:pPr indent="-312420" lvl="0" marL="325120" rtl="0" algn="l">
              <a:lnSpc>
                <a:spcPct val="100000"/>
              </a:lnSpc>
              <a:spcBef>
                <a:spcPts val="0"/>
              </a:spcBef>
              <a:spcAft>
                <a:spcPts val="0"/>
              </a:spcAft>
              <a:buClr>
                <a:srgbClr val="1F3764"/>
              </a:buClr>
              <a:buSzPts val="1800"/>
              <a:buFont typeface="Quattrocento Sans"/>
              <a:buChar char="➢"/>
            </a:pPr>
            <a:r>
              <a:rPr b="1" lang="en-US" sz="1800">
                <a:solidFill>
                  <a:srgbClr val="1F3764"/>
                </a:solidFill>
                <a:latin typeface="Calibri"/>
                <a:ea typeface="Calibri"/>
                <a:cs typeface="Calibri"/>
                <a:sym typeface="Calibri"/>
              </a:rPr>
              <a:t>Playwright Documentation</a:t>
            </a:r>
            <a:endParaRPr sz="1800">
              <a:latin typeface="Calibri"/>
              <a:ea typeface="Calibri"/>
              <a:cs typeface="Calibri"/>
              <a:sym typeface="Calibri"/>
            </a:endParaRPr>
          </a:p>
          <a:p>
            <a:pPr indent="0" lvl="0" marL="271145" rtl="0" algn="l">
              <a:lnSpc>
                <a:spcPct val="100000"/>
              </a:lnSpc>
              <a:spcBef>
                <a:spcPts val="165"/>
              </a:spcBef>
              <a:spcAft>
                <a:spcPts val="0"/>
              </a:spcAft>
              <a:buNone/>
            </a:pPr>
            <a:r>
              <a:rPr lang="en-US" sz="1800">
                <a:solidFill>
                  <a:srgbClr val="404040"/>
                </a:solidFill>
                <a:latin typeface="Calibri"/>
                <a:ea typeface="Calibri"/>
                <a:cs typeface="Calibri"/>
                <a:sym typeface="Calibri"/>
              </a:rPr>
              <a:t>Browser automation / scraping reference — </a:t>
            </a:r>
            <a:r>
              <a:rPr i="1" lang="en-US" sz="1800" u="sng">
                <a:solidFill>
                  <a:schemeClr val="hlink"/>
                </a:solidFill>
                <a:latin typeface="Calibri"/>
                <a:ea typeface="Calibri"/>
                <a:cs typeface="Calibri"/>
                <a:sym typeface="Calibri"/>
                <a:hlinkClick r:id="rId8"/>
              </a:rPr>
              <a:t>https://playwright.dev</a:t>
            </a:r>
            <a:endParaRPr sz="1800">
              <a:latin typeface="Calibri"/>
              <a:ea typeface="Calibri"/>
              <a:cs typeface="Calibri"/>
              <a:sym typeface="Calibri"/>
            </a:endParaRPr>
          </a:p>
        </p:txBody>
      </p:sp>
      <p:sp>
        <p:nvSpPr>
          <p:cNvPr id="182" name="Google Shape;182;p12"/>
          <p:cNvSpPr txBox="1"/>
          <p:nvPr>
            <p:ph idx="12" type="sldNum"/>
          </p:nvPr>
        </p:nvSpPr>
        <p:spPr>
          <a:xfrm>
            <a:off x="17868799" y="9944925"/>
            <a:ext cx="195580" cy="234950"/>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83" name="Google Shape;183;p12"/>
          <p:cNvSpPr txBox="1"/>
          <p:nvPr>
            <p:ph idx="11" type="ftr"/>
          </p:nvPr>
        </p:nvSpPr>
        <p:spPr>
          <a:xfrm>
            <a:off x="261619" y="9973500"/>
            <a:ext cx="2287800" cy="207900"/>
          </a:xfrm>
          <a:prstGeom prst="rect">
            <a:avLst/>
          </a:prstGeom>
          <a:noFill/>
          <a:ln>
            <a:noFill/>
          </a:ln>
        </p:spPr>
        <p:txBody>
          <a:bodyPr anchorCtr="0" anchor="t" bIns="0" lIns="0" spcFirstLastPara="1" rIns="0" wrap="square" tIns="0">
            <a:spAutoFit/>
          </a:bodyPr>
          <a:lstStyle/>
          <a:p>
            <a:pPr indent="0" lvl="0" marL="12700" rtl="0" algn="l">
              <a:lnSpc>
                <a:spcPct val="106153"/>
              </a:lnSpc>
              <a:spcBef>
                <a:spcPts val="0"/>
              </a:spcBef>
              <a:spcAft>
                <a:spcPts val="0"/>
              </a:spcAft>
              <a:buNone/>
            </a:pPr>
            <a:r>
              <a:rPr lang="en-US"/>
              <a:t>404 FOUND</a:t>
            </a:r>
            <a:endParaRPr/>
          </a:p>
        </p:txBody>
      </p:sp>
      <p:pic>
        <p:nvPicPr>
          <p:cNvPr id="184" name="Google Shape;184;p12"/>
          <p:cNvPicPr preferRelativeResize="0"/>
          <p:nvPr/>
        </p:nvPicPr>
        <p:blipFill>
          <a:blip r:embed="rId9">
            <a:alphaModFix/>
          </a:blip>
          <a:stretch>
            <a:fillRect/>
          </a:stretch>
        </p:blipFill>
        <p:spPr>
          <a:xfrm>
            <a:off x="14896575" y="99200"/>
            <a:ext cx="3167802" cy="1235625"/>
          </a:xfrm>
          <a:prstGeom prst="rect">
            <a:avLst/>
          </a:prstGeom>
          <a:noFill/>
          <a:ln>
            <a:noFill/>
          </a:ln>
        </p:spPr>
      </p:pic>
      <p:pic>
        <p:nvPicPr>
          <p:cNvPr id="185" name="Google Shape;185;p12"/>
          <p:cNvPicPr preferRelativeResize="0"/>
          <p:nvPr/>
        </p:nvPicPr>
        <p:blipFill>
          <a:blip r:embed="rId10">
            <a:alphaModFix/>
          </a:blip>
          <a:stretch>
            <a:fillRect/>
          </a:stretch>
        </p:blipFill>
        <p:spPr>
          <a:xfrm>
            <a:off x="744146" y="365559"/>
            <a:ext cx="1254863" cy="718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FB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